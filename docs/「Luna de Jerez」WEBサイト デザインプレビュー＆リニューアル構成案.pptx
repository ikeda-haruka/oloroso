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oto Sans JP"/>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otoSansJP-bold.fntdata"/><Relationship Id="rId6" Type="http://schemas.openxmlformats.org/officeDocument/2006/relationships/slide" Target="slides/slide1.xml"/><Relationship Id="rId18" Type="http://schemas.openxmlformats.org/officeDocument/2006/relationships/font" Target="fonts/NotoSansJP-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47d1859a28a20cb6_2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47d1859a28a20cb6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47d1859a28a20cb6_2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47d1859a28a20cb6_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47d1859a28a20cb6_2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47d1859a28a20cb6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47d1859a28a20cb6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47d1859a28a20cb6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47d1859a28a20cb6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47d1859a28a20cb6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47d1859a28a20cb6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h47d1859a28a20cb6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47d1859a28a20cb6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h47d1859a28a20cb6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h47d1859a28a20cb6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h47d1859a28a20cb6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h47d1859a28a20cb6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h47d1859a28a20cb6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h47d1859a28a20cb6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h47d1859a28a20cb6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h47d1859a28a20cb6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h47d1859a28a20cb6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47d1859a28a20cb6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h47d1859a28a20cb6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47d1859a28a20cb6_15_0)">
  <p:cSld name="Generated (h47d1859a28a20cb6_15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6.jpg"/><Relationship Id="rId5"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grpSp>
        <p:nvGrpSpPr>
          <p:cNvPr id="55" name="Google Shape;55;p14"/>
          <p:cNvGrpSpPr/>
          <p:nvPr/>
        </p:nvGrpSpPr>
        <p:grpSpPr>
          <a:xfrm>
            <a:off x="381000" y="381000"/>
            <a:ext cx="8382000" cy="4391100"/>
            <a:chOff x="381000" y="381000"/>
            <a:chExt cx="8382000" cy="4391100"/>
          </a:xfrm>
        </p:grpSpPr>
        <p:sp>
          <p:nvSpPr>
            <p:cNvPr id="56" name="Google Shape;56;p14"/>
            <p:cNvSpPr/>
            <p:nvPr/>
          </p:nvSpPr>
          <p:spPr>
            <a:xfrm>
              <a:off x="381000" y="38100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381000" y="476250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 name="Google Shape;58;p14"/>
            <p:cNvGrpSpPr/>
            <p:nvPr/>
          </p:nvGrpSpPr>
          <p:grpSpPr>
            <a:xfrm>
              <a:off x="3619500" y="714375"/>
              <a:ext cx="1905000" cy="324000"/>
              <a:chOff x="0" y="0"/>
              <a:chExt cx="1905000" cy="324000"/>
            </a:xfrm>
          </p:grpSpPr>
          <p:sp>
            <p:nvSpPr>
              <p:cNvPr id="59" name="Google Shape;59;p14"/>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Luna de Jerez</a:t>
                </a:r>
                <a:endParaRPr/>
              </a:p>
            </p:txBody>
          </p:sp>
          <p:sp>
            <p:nvSpPr>
              <p:cNvPr id="60" name="Google Shape;60;p14"/>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61" name="Google Shape;61;p14"/>
          <p:cNvGrpSpPr/>
          <p:nvPr/>
        </p:nvGrpSpPr>
        <p:grpSpPr>
          <a:xfrm>
            <a:off x="762000" y="1476375"/>
            <a:ext cx="7620000" cy="2952900"/>
            <a:chOff x="762000" y="1476375"/>
            <a:chExt cx="7620000" cy="2952900"/>
          </a:xfrm>
        </p:grpSpPr>
        <p:sp>
          <p:nvSpPr>
            <p:cNvPr id="62" name="Google Shape;62;p14"/>
            <p:cNvSpPr txBox="1"/>
            <p:nvPr/>
          </p:nvSpPr>
          <p:spPr>
            <a:xfrm>
              <a:off x="762000" y="1476375"/>
              <a:ext cx="7620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600">
                  <a:solidFill>
                    <a:srgbClr val="8B0000"/>
                  </a:solidFill>
                  <a:latin typeface="Noto Sans JP"/>
                  <a:ea typeface="Noto Sans JP"/>
                  <a:cs typeface="Noto Sans JP"/>
                  <a:sym typeface="Noto Sans JP"/>
                </a:rPr>
                <a:t>既存の受講生・ファンの皆様へ向けた新たなデジタル体験の提案</a:t>
              </a:r>
              <a:endParaRPr/>
            </a:p>
          </p:txBody>
        </p:sp>
        <p:sp>
          <p:nvSpPr>
            <p:cNvPr id="63" name="Google Shape;63;p14"/>
            <p:cNvSpPr txBox="1"/>
            <p:nvPr/>
          </p:nvSpPr>
          <p:spPr>
            <a:xfrm>
              <a:off x="762000" y="1952625"/>
              <a:ext cx="7620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3200">
                  <a:solidFill>
                    <a:srgbClr val="2C2C2C"/>
                  </a:solidFill>
                  <a:latin typeface="Arial"/>
                  <a:ea typeface="Arial"/>
                  <a:cs typeface="Arial"/>
                  <a:sym typeface="Arial"/>
                </a:rPr>
                <a:t>「Luna de Jerez」WEBサイト</a:t>
              </a:r>
              <a:endParaRPr b="1" sz="3200">
                <a:solidFill>
                  <a:srgbClr val="2C2C2C"/>
                </a:solidFill>
                <a:latin typeface="Arial"/>
                <a:ea typeface="Arial"/>
                <a:cs typeface="Arial"/>
                <a:sym typeface="Arial"/>
              </a:endParaRPr>
            </a:p>
            <a:p>
              <a:pPr indent="0" lvl="0" marL="0" rtl="0" algn="ctr">
                <a:spcBef>
                  <a:spcPts val="600"/>
                </a:spcBef>
                <a:spcAft>
                  <a:spcPts val="0"/>
                </a:spcAft>
                <a:buNone/>
              </a:pPr>
              <a:r>
                <a:rPr b="1" lang="ja" sz="3200">
                  <a:solidFill>
                    <a:srgbClr val="2C2C2C"/>
                  </a:solidFill>
                  <a:latin typeface="Arial"/>
                  <a:ea typeface="Arial"/>
                  <a:cs typeface="Arial"/>
                  <a:sym typeface="Arial"/>
                </a:rPr>
                <a:t>デザインプレビュー＆リニューアル構成案</a:t>
              </a:r>
              <a:endParaRPr b="1" sz="3200">
                <a:solidFill>
                  <a:srgbClr val="2C2C2C"/>
                </a:solidFill>
                <a:latin typeface="Arial"/>
                <a:ea typeface="Arial"/>
                <a:cs typeface="Arial"/>
                <a:sym typeface="Arial"/>
              </a:endParaRPr>
            </a:p>
          </p:txBody>
        </p:sp>
        <p:sp>
          <p:nvSpPr>
            <p:cNvPr id="64" name="Google Shape;64;p14"/>
            <p:cNvSpPr/>
            <p:nvPr/>
          </p:nvSpPr>
          <p:spPr>
            <a:xfrm>
              <a:off x="4000500" y="3381375"/>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txBox="1"/>
            <p:nvPr/>
          </p:nvSpPr>
          <p:spPr>
            <a:xfrm>
              <a:off x="762000" y="3762375"/>
              <a:ext cx="76200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400">
                  <a:solidFill>
                    <a:srgbClr val="2C2C2C"/>
                  </a:solidFill>
                  <a:latin typeface="Noto Sans JP"/>
                  <a:ea typeface="Noto Sans JP"/>
                  <a:cs typeface="Noto Sans JP"/>
                  <a:sym typeface="Noto Sans JP"/>
                </a:rPr>
                <a:t>プレゼンター: 遥香 池田</a:t>
              </a:r>
              <a:endParaRPr b="0" sz="1400">
                <a:solidFill>
                  <a:srgbClr val="2C2C2C"/>
                </a:solidFill>
                <a:latin typeface="Noto Sans JP"/>
                <a:ea typeface="Noto Sans JP"/>
                <a:cs typeface="Noto Sans JP"/>
                <a:sym typeface="Noto Sans JP"/>
              </a:endParaRPr>
            </a:p>
            <a:p>
              <a:pPr indent="0" lvl="0" marL="0" rtl="0" algn="ctr">
                <a:spcBef>
                  <a:spcPts val="600"/>
                </a:spcBef>
                <a:spcAft>
                  <a:spcPts val="0"/>
                </a:spcAft>
                <a:buNone/>
              </a:pPr>
              <a:r>
                <a:rPr b="0" lang="ja" sz="1100">
                  <a:solidFill>
                    <a:srgbClr val="666666"/>
                  </a:solidFill>
                  <a:latin typeface="Noto Sans JP"/>
                  <a:ea typeface="Noto Sans JP"/>
                  <a:cs typeface="Noto Sans JP"/>
                  <a:sym typeface="Noto Sans JP"/>
                </a:rPr>
                <a:t>2026年10月</a:t>
              </a:r>
              <a:endParaRPr b="0" sz="1100">
                <a:solidFill>
                  <a:srgbClr val="666666"/>
                </a:solidFill>
                <a:latin typeface="Noto Sans JP"/>
                <a:ea typeface="Noto Sans JP"/>
                <a:cs typeface="Noto Sans JP"/>
                <a:sym typeface="Noto Sans J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69" name="Shape 69"/>
        <p:cNvGrpSpPr/>
        <p:nvPr/>
      </p:nvGrpSpPr>
      <p:grpSpPr>
        <a:xfrm>
          <a:off x="0" y="0"/>
          <a:ext cx="0" cy="0"/>
          <a:chOff x="0" y="0"/>
          <a:chExt cx="0" cy="0"/>
        </a:xfrm>
      </p:grpSpPr>
      <p:grpSp>
        <p:nvGrpSpPr>
          <p:cNvPr id="70" name="Google Shape;70;p15"/>
          <p:cNvGrpSpPr/>
          <p:nvPr/>
        </p:nvGrpSpPr>
        <p:grpSpPr>
          <a:xfrm>
            <a:off x="381000" y="285750"/>
            <a:ext cx="1905000" cy="324000"/>
            <a:chOff x="0" y="0"/>
            <a:chExt cx="1905000" cy="324000"/>
          </a:xfrm>
        </p:grpSpPr>
        <p:sp>
          <p:nvSpPr>
            <p:cNvPr id="71" name="Google Shape;71;p15"/>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Luna de Jerez</a:t>
              </a:r>
              <a:endParaRPr/>
            </a:p>
          </p:txBody>
        </p:sp>
        <p:sp>
          <p:nvSpPr>
            <p:cNvPr id="72" name="Google Shape;72;p15"/>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73" name="Google Shape;73;p15"/>
          <p:cNvGrpSpPr/>
          <p:nvPr/>
        </p:nvGrpSpPr>
        <p:grpSpPr>
          <a:xfrm>
            <a:off x="381000" y="762000"/>
            <a:ext cx="8382000" cy="19200"/>
            <a:chOff x="0" y="0"/>
            <a:chExt cx="8382000" cy="19200"/>
          </a:xfrm>
        </p:grpSpPr>
        <p:sp>
          <p:nvSpPr>
            <p:cNvPr id="74" name="Google Shape;74;p15"/>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5"/>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76" name="Google Shape;76;p15"/>
          <p:cNvGrpSpPr/>
          <p:nvPr/>
        </p:nvGrpSpPr>
        <p:grpSpPr>
          <a:xfrm>
            <a:off x="381000" y="1000125"/>
            <a:ext cx="8382150" cy="3762300"/>
            <a:chOff x="381000" y="1000125"/>
            <a:chExt cx="8382150" cy="3762300"/>
          </a:xfrm>
        </p:grpSpPr>
        <p:sp>
          <p:nvSpPr>
            <p:cNvPr id="77" name="Google Shape;77;p15"/>
            <p:cNvSpPr txBox="1"/>
            <p:nvPr/>
          </p:nvSpPr>
          <p:spPr>
            <a:xfrm>
              <a:off x="381000" y="1000125"/>
              <a:ext cx="4095900" cy="376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100">
                  <a:solidFill>
                    <a:srgbClr val="8B0000"/>
                  </a:solidFill>
                  <a:latin typeface="Noto Sans JP"/>
                  <a:ea typeface="Noto Sans JP"/>
                  <a:cs typeface="Noto Sans JP"/>
                  <a:sym typeface="Noto Sans JP"/>
                </a:rPr>
                <a:t>DIGITAL RENEWAL</a:t>
              </a:r>
              <a:endParaRPr b="1" sz="1100">
                <a:solidFill>
                  <a:srgbClr val="8B0000"/>
                </a:solidFill>
                <a:latin typeface="Noto Sans JP"/>
                <a:ea typeface="Noto Sans JP"/>
                <a:cs typeface="Noto Sans JP"/>
                <a:sym typeface="Noto Sans JP"/>
              </a:endParaRPr>
            </a:p>
            <a:p>
              <a:pPr indent="0" lvl="0" marL="0" rtl="0" algn="l">
                <a:spcBef>
                  <a:spcPts val="600"/>
                </a:spcBef>
                <a:spcAft>
                  <a:spcPts val="0"/>
                </a:spcAft>
                <a:buNone/>
              </a:pPr>
              <a:r>
                <a:rPr b="1" lang="ja" sz="1500">
                  <a:solidFill>
                    <a:srgbClr val="2C2C2C"/>
                  </a:solidFill>
                  <a:latin typeface="Arial"/>
                  <a:ea typeface="Arial"/>
                  <a:cs typeface="Arial"/>
                  <a:sym typeface="Arial"/>
                </a:rPr>
                <a:t>既存の受講生とファンに、より深く豊かな体験を提供するためのデジタルリニューアルを実施します。</a:t>
              </a:r>
              <a:endParaRPr b="1" sz="1500">
                <a:solidFill>
                  <a:srgbClr val="2C2C2C"/>
                </a:solidFill>
                <a:latin typeface="Arial"/>
                <a:ea typeface="Arial"/>
                <a:cs typeface="Arial"/>
                <a:sym typeface="Arial"/>
              </a:endParaRPr>
            </a:p>
            <a:p>
              <a:pPr indent="0" lvl="0" marL="0" rtl="0" algn="l">
                <a:spcBef>
                  <a:spcPts val="1350"/>
                </a:spcBef>
                <a:spcAft>
                  <a:spcPts val="0"/>
                </a:spcAft>
                <a:buNone/>
              </a:pPr>
              <a:r>
                <a:rPr b="0" lang="ja" sz="1050">
                  <a:solidFill>
                    <a:srgbClr val="555555"/>
                  </a:solidFill>
                  <a:latin typeface="Noto Sans JP"/>
                  <a:ea typeface="Noto Sans JP"/>
                  <a:cs typeface="Noto Sans JP"/>
                  <a:sym typeface="Noto Sans JP"/>
                </a:rPr>
                <a:t>現在のWEBサイトは、長年の運用により多くの情報が蓄積されている一方で、情報構造の複雑化や、スマートフォン閲覧時の視認性の低下といった課題を抱えています。また、ブログやSNS、予約システムなど、複数のプラットフォームに情報が分散しており、受講生が目的の情報に素早くたどり着けないケースが発生しています。</a:t>
              </a:r>
              <a:endParaRPr b="0" sz="1050">
                <a:solidFill>
                  <a:srgbClr val="555555"/>
                </a:solidFill>
                <a:latin typeface="Noto Sans JP"/>
                <a:ea typeface="Noto Sans JP"/>
                <a:cs typeface="Noto Sans JP"/>
                <a:sym typeface="Noto Sans JP"/>
              </a:endParaRPr>
            </a:p>
            <a:p>
              <a:pPr indent="0" lvl="0" marL="0" rtl="0" algn="l">
                <a:spcBef>
                  <a:spcPts val="1050"/>
                </a:spcBef>
                <a:spcAft>
                  <a:spcPts val="0"/>
                </a:spcAft>
                <a:buNone/>
              </a:pPr>
              <a:r>
                <a:rPr b="0" lang="ja" sz="1050">
                  <a:solidFill>
                    <a:srgbClr val="2C2C2C"/>
                  </a:solidFill>
                  <a:latin typeface="Noto Sans JP"/>
                  <a:ea typeface="Noto Sans JP"/>
                  <a:cs typeface="Noto Sans JP"/>
                  <a:sym typeface="Noto Sans JP"/>
                </a:rPr>
                <a:t>今回のリニューアルの最大の目的は、「Luna de Jerez」が持つ情熱的でエレガントな世界観をデジタル上で再構築し、既存の受講生やファンの皆様の体験価値（UX）を劇的に向上させることです。具体的には、日々のレッスンスケジュールの確認から、特別ワークショップの申し込み、そしてスタジオの最新情報の取得まで、あらゆるタッチポイントにおいてストレスのない、シームレスで洗練されたインターフェースを提供します。これにより、スタジオと生徒の皆様との繋がりをさらに強固なものに進化させます。</a:t>
              </a:r>
              <a:endParaRPr b="0" sz="1050">
                <a:solidFill>
                  <a:srgbClr val="2C2C2C"/>
                </a:solidFill>
                <a:latin typeface="Noto Sans JP"/>
                <a:ea typeface="Noto Sans JP"/>
                <a:cs typeface="Noto Sans JP"/>
                <a:sym typeface="Noto Sans JP"/>
              </a:endParaRPr>
            </a:p>
          </p:txBody>
        </p:sp>
        <p:grpSp>
          <p:nvGrpSpPr>
            <p:cNvPr id="78" name="Google Shape;78;p15"/>
            <p:cNvGrpSpPr/>
            <p:nvPr/>
          </p:nvGrpSpPr>
          <p:grpSpPr>
            <a:xfrm>
              <a:off x="4667250" y="1000125"/>
              <a:ext cx="4095900" cy="3524400"/>
              <a:chOff x="0" y="0"/>
              <a:chExt cx="4095900" cy="3524400"/>
            </a:xfrm>
          </p:grpSpPr>
          <p:pic>
            <p:nvPicPr>
              <p:cNvPr id="79" name="Google Shape;79;p15"/>
              <p:cNvPicPr preferRelativeResize="0"/>
              <p:nvPr/>
            </p:nvPicPr>
            <p:blipFill rotWithShape="1">
              <a:blip r:embed="rId3">
                <a:alphaModFix/>
              </a:blip>
              <a:srcRect b="0" l="0" r="0" t="0"/>
              <a:stretch/>
            </p:blipFill>
            <p:spPr>
              <a:xfrm>
                <a:off x="0" y="0"/>
                <a:ext cx="4095900" cy="2304000"/>
              </a:xfrm>
              <a:prstGeom prst="rect">
                <a:avLst/>
              </a:prstGeom>
              <a:noFill/>
              <a:ln>
                <a:noFill/>
              </a:ln>
            </p:spPr>
          </p:pic>
          <p:grpSp>
            <p:nvGrpSpPr>
              <p:cNvPr id="80" name="Google Shape;80;p15"/>
              <p:cNvGrpSpPr/>
              <p:nvPr/>
            </p:nvGrpSpPr>
            <p:grpSpPr>
              <a:xfrm>
                <a:off x="0" y="2476500"/>
                <a:ext cx="4095900" cy="1047900"/>
                <a:chOff x="0" y="0"/>
                <a:chExt cx="4095900" cy="1047900"/>
              </a:xfrm>
            </p:grpSpPr>
            <p:sp>
              <p:nvSpPr>
                <p:cNvPr id="81" name="Google Shape;81;p15"/>
                <p:cNvSpPr/>
                <p:nvPr/>
              </p:nvSpPr>
              <p:spPr>
                <a:xfrm>
                  <a:off x="0" y="0"/>
                  <a:ext cx="4095900" cy="10479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5"/>
                <p:cNvSpPr/>
                <p:nvPr/>
              </p:nvSpPr>
              <p:spPr>
                <a:xfrm>
                  <a:off x="0" y="0"/>
                  <a:ext cx="38100" cy="10479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5"/>
                <p:cNvSpPr txBox="1"/>
                <p:nvPr/>
              </p:nvSpPr>
              <p:spPr>
                <a:xfrm>
                  <a:off x="228600" y="190500"/>
                  <a:ext cx="36387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300">
                      <a:solidFill>
                        <a:srgbClr val="8B0000"/>
                      </a:solidFill>
                      <a:latin typeface="Arial"/>
                      <a:ea typeface="Arial"/>
                      <a:cs typeface="Arial"/>
                      <a:sym typeface="Arial"/>
                    </a:rPr>
                    <a:t>UX / Experience Value</a:t>
                  </a:r>
                  <a:endParaRPr b="1" sz="1300">
                    <a:solidFill>
                      <a:srgbClr val="8B0000"/>
                    </a:solidFill>
                    <a:latin typeface="Arial"/>
                    <a:ea typeface="Arial"/>
                    <a:cs typeface="Arial"/>
                    <a:sym typeface="Arial"/>
                  </a:endParaRPr>
                </a:p>
                <a:p>
                  <a:pPr indent="0" lvl="0" marL="0" rtl="0" algn="l">
                    <a:spcBef>
                      <a:spcPts val="300"/>
                    </a:spcBef>
                    <a:spcAft>
                      <a:spcPts val="0"/>
                    </a:spcAft>
                    <a:buNone/>
                  </a:pPr>
                  <a:r>
                    <a:rPr b="0" lang="ja" sz="1000">
                      <a:solidFill>
                        <a:srgbClr val="2C2C2C"/>
                      </a:solidFill>
                      <a:latin typeface="Noto Sans JP"/>
                      <a:ea typeface="Noto Sans JP"/>
                      <a:cs typeface="Noto Sans JP"/>
                      <a:sym typeface="Noto Sans JP"/>
                    </a:rPr>
                    <a:t>情熱的でエレガントな世界観の再構築と</a:t>
                  </a:r>
                  <a:br>
                    <a:rPr b="0" lang="ja" sz="1000">
                      <a:solidFill>
                        <a:srgbClr val="2C2C2C"/>
                      </a:solidFill>
                      <a:latin typeface="Noto Sans JP"/>
                      <a:ea typeface="Noto Sans JP"/>
                      <a:cs typeface="Noto Sans JP"/>
                      <a:sym typeface="Noto Sans JP"/>
                    </a:rPr>
                  </a:br>
                  <a:r>
                    <a:rPr b="0" lang="ja" sz="1000">
                      <a:solidFill>
                        <a:srgbClr val="2C2C2C"/>
                      </a:solidFill>
                      <a:latin typeface="Noto Sans JP"/>
                      <a:ea typeface="Noto Sans JP"/>
                      <a:cs typeface="Noto Sans JP"/>
                      <a:sym typeface="Noto Sans JP"/>
                    </a:rPr>
                    <a:t>ストレスのないシームレスなUIデザインへの刷新</a:t>
                  </a:r>
                  <a:endParaRPr b="0" sz="1000">
                    <a:solidFill>
                      <a:srgbClr val="2C2C2C"/>
                    </a:solidFill>
                    <a:latin typeface="Noto Sans JP"/>
                    <a:ea typeface="Noto Sans JP"/>
                    <a:cs typeface="Noto Sans JP"/>
                    <a:sym typeface="Noto Sans JP"/>
                  </a:endParaRPr>
                </a:p>
              </p:txBody>
            </p:sp>
          </p:gr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87" name="Shape 87"/>
        <p:cNvGrpSpPr/>
        <p:nvPr/>
      </p:nvGrpSpPr>
      <p:grpSpPr>
        <a:xfrm>
          <a:off x="0" y="0"/>
          <a:ext cx="0" cy="0"/>
          <a:chOff x="0" y="0"/>
          <a:chExt cx="0" cy="0"/>
        </a:xfrm>
      </p:grpSpPr>
      <p:grpSp>
        <p:nvGrpSpPr>
          <p:cNvPr id="88" name="Google Shape;88;p16"/>
          <p:cNvGrpSpPr/>
          <p:nvPr/>
        </p:nvGrpSpPr>
        <p:grpSpPr>
          <a:xfrm>
            <a:off x="381000" y="285750"/>
            <a:ext cx="8382000" cy="495450"/>
            <a:chOff x="381000" y="285750"/>
            <a:chExt cx="8382000" cy="495450"/>
          </a:xfrm>
        </p:grpSpPr>
        <p:grpSp>
          <p:nvGrpSpPr>
            <p:cNvPr id="89" name="Google Shape;89;p16"/>
            <p:cNvGrpSpPr/>
            <p:nvPr/>
          </p:nvGrpSpPr>
          <p:grpSpPr>
            <a:xfrm>
              <a:off x="381000" y="285750"/>
              <a:ext cx="1905000" cy="324000"/>
              <a:chOff x="0" y="0"/>
              <a:chExt cx="1905000" cy="324000"/>
            </a:xfrm>
          </p:grpSpPr>
          <p:sp>
            <p:nvSpPr>
              <p:cNvPr id="90" name="Google Shape;90;p16"/>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FFFFFF"/>
                    </a:solidFill>
                    <a:latin typeface="Arial"/>
                    <a:ea typeface="Arial"/>
                    <a:cs typeface="Arial"/>
                    <a:sym typeface="Arial"/>
                  </a:rPr>
                  <a:t>Luna de Jerez</a:t>
                </a:r>
                <a:endParaRPr/>
              </a:p>
            </p:txBody>
          </p:sp>
          <p:sp>
            <p:nvSpPr>
              <p:cNvPr id="91" name="Google Shape;91;p16"/>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2" name="Google Shape;92;p16"/>
            <p:cNvSpPr/>
            <p:nvPr/>
          </p:nvSpPr>
          <p:spPr>
            <a:xfrm>
              <a:off x="381000" y="762000"/>
              <a:ext cx="8382000" cy="9600"/>
            </a:xfrm>
            <a:prstGeom prst="rect">
              <a:avLst/>
            </a:prstGeom>
            <a:solidFill>
              <a:srgbClr val="4A4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6"/>
            <p:cNvSpPr/>
            <p:nvPr/>
          </p:nvSpPr>
          <p:spPr>
            <a:xfrm>
              <a:off x="381000" y="76200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94" name="Google Shape;94;p16"/>
          <p:cNvGrpSpPr/>
          <p:nvPr/>
        </p:nvGrpSpPr>
        <p:grpSpPr>
          <a:xfrm>
            <a:off x="381000" y="1047750"/>
            <a:ext cx="8382150" cy="3619650"/>
            <a:chOff x="0" y="0"/>
            <a:chExt cx="8382150" cy="3619650"/>
          </a:xfrm>
        </p:grpSpPr>
        <p:grpSp>
          <p:nvGrpSpPr>
            <p:cNvPr id="95" name="Google Shape;95;p16"/>
            <p:cNvGrpSpPr/>
            <p:nvPr/>
          </p:nvGrpSpPr>
          <p:grpSpPr>
            <a:xfrm>
              <a:off x="0" y="0"/>
              <a:ext cx="4191000" cy="3619500"/>
              <a:chOff x="0" y="0"/>
              <a:chExt cx="4191000" cy="3619500"/>
            </a:xfrm>
          </p:grpSpPr>
          <p:sp>
            <p:nvSpPr>
              <p:cNvPr id="96" name="Google Shape;96;p16"/>
              <p:cNvSpPr txBox="1"/>
              <p:nvPr/>
            </p:nvSpPr>
            <p:spPr>
              <a:xfrm>
                <a:off x="0" y="0"/>
                <a:ext cx="4191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400">
                    <a:solidFill>
                      <a:srgbClr val="F8F6F0"/>
                    </a:solidFill>
                    <a:latin typeface="Noto Sans JP"/>
                    <a:ea typeface="Noto Sans JP"/>
                    <a:cs typeface="Noto Sans JP"/>
                    <a:sym typeface="Noto Sans JP"/>
                  </a:rPr>
                  <a:t>DESIGN CONCEPT</a:t>
                </a:r>
                <a:endParaRPr/>
              </a:p>
            </p:txBody>
          </p:sp>
          <p:sp>
            <p:nvSpPr>
              <p:cNvPr id="97" name="Google Shape;97;p16"/>
              <p:cNvSpPr txBox="1"/>
              <p:nvPr/>
            </p:nvSpPr>
            <p:spPr>
              <a:xfrm>
                <a:off x="0" y="333375"/>
                <a:ext cx="4191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2600">
                    <a:solidFill>
                      <a:srgbClr val="FFFFFF"/>
                    </a:solidFill>
                    <a:latin typeface="Arial"/>
                    <a:ea typeface="Arial"/>
                    <a:cs typeface="Arial"/>
                    <a:sym typeface="Arial"/>
                  </a:rPr>
                  <a:t>洗練された情熱</a:t>
                </a:r>
                <a:endParaRPr b="1" sz="2600">
                  <a:solidFill>
                    <a:srgbClr val="FFFFFF"/>
                  </a:solidFill>
                  <a:latin typeface="Arial"/>
                  <a:ea typeface="Arial"/>
                  <a:cs typeface="Arial"/>
                  <a:sym typeface="Arial"/>
                </a:endParaRPr>
              </a:p>
              <a:p>
                <a:pPr indent="0" lvl="0" marL="0" rtl="0" algn="l">
                  <a:spcBef>
                    <a:spcPts val="300"/>
                  </a:spcBef>
                  <a:spcAft>
                    <a:spcPts val="0"/>
                  </a:spcAft>
                  <a:buNone/>
                </a:pPr>
                <a:r>
                  <a:rPr b="0" lang="ja" sz="1400">
                    <a:solidFill>
                      <a:srgbClr val="8B0000"/>
                    </a:solidFill>
                    <a:latin typeface="Arial"/>
                    <a:ea typeface="Arial"/>
                    <a:cs typeface="Arial"/>
                    <a:sym typeface="Arial"/>
                  </a:rPr>
                  <a:t>Sophisticated Passion</a:t>
                </a:r>
                <a:endParaRPr b="0" sz="1400">
                  <a:solidFill>
                    <a:srgbClr val="8B0000"/>
                  </a:solidFill>
                  <a:latin typeface="Arial"/>
                  <a:ea typeface="Arial"/>
                  <a:cs typeface="Arial"/>
                  <a:sym typeface="Arial"/>
                </a:endParaRPr>
              </a:p>
            </p:txBody>
          </p:sp>
          <p:sp>
            <p:nvSpPr>
              <p:cNvPr id="98" name="Google Shape;98;p16"/>
              <p:cNvSpPr/>
              <p:nvPr/>
            </p:nvSpPr>
            <p:spPr>
              <a:xfrm>
                <a:off x="0" y="1190625"/>
                <a:ext cx="4191000" cy="9600"/>
              </a:xfrm>
              <a:prstGeom prst="rect">
                <a:avLst/>
              </a:prstGeom>
              <a:solidFill>
                <a:srgbClr val="4A4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6"/>
              <p:cNvSpPr txBox="1"/>
              <p:nvPr/>
            </p:nvSpPr>
            <p:spPr>
              <a:xfrm>
                <a:off x="0" y="1333500"/>
                <a:ext cx="41910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0">
                    <a:solidFill>
                      <a:srgbClr val="EBE7E0"/>
                    </a:solidFill>
                    <a:latin typeface="Noto Sans JP"/>
                    <a:ea typeface="Noto Sans JP"/>
                    <a:cs typeface="Noto Sans JP"/>
                    <a:sym typeface="Noto Sans JP"/>
                  </a:rPr>
                  <a:t>アンダルシアの伝統と現代的な洗練を融合させた、エレガントな世界観を表現します。</a:t>
                </a:r>
                <a:endParaRPr b="0" sz="770">
                  <a:solidFill>
                    <a:srgbClr val="EBE7E0"/>
                  </a:solidFill>
                  <a:latin typeface="Noto Sans JP"/>
                  <a:ea typeface="Noto Sans JP"/>
                  <a:cs typeface="Noto Sans JP"/>
                  <a:sym typeface="Noto Sans JP"/>
                </a:endParaRPr>
              </a:p>
              <a:p>
                <a:pPr indent="0" lvl="0" marL="0" rtl="0" algn="l">
                  <a:spcBef>
                    <a:spcPts val="900"/>
                  </a:spcBef>
                  <a:spcAft>
                    <a:spcPts val="0"/>
                  </a:spcAft>
                  <a:buNone/>
                </a:pPr>
                <a:r>
                  <a:rPr b="0" lang="ja" sz="770">
                    <a:solidFill>
                      <a:srgbClr val="EBE7E0"/>
                    </a:solidFill>
                    <a:latin typeface="Noto Sans JP"/>
                    <a:ea typeface="Noto Sans JP"/>
                    <a:cs typeface="Noto Sans JP"/>
                    <a:sym typeface="Noto Sans JP"/>
                  </a:rPr>
                  <a:t>新しいWEBサイトの全体デザインコンセプトは、「洗練された情熱（Sophisticated Passion）」です。フラメンコの本場であるスペイン・アンダルシア地方の伝統的な力強さと、現代的でエレガントな美しさを融合させたビジュアルアイデンティティを確立します。</a:t>
                </a:r>
                <a:endParaRPr b="0" sz="770">
                  <a:solidFill>
                    <a:srgbClr val="EBE7E0"/>
                  </a:solidFill>
                  <a:latin typeface="Noto Sans JP"/>
                  <a:ea typeface="Noto Sans JP"/>
                  <a:cs typeface="Noto Sans JP"/>
                  <a:sym typeface="Noto Sans JP"/>
                </a:endParaRPr>
              </a:p>
              <a:p>
                <a:pPr indent="0" lvl="0" marL="0" rtl="0" algn="l">
                  <a:spcBef>
                    <a:spcPts val="900"/>
                  </a:spcBef>
                  <a:spcAft>
                    <a:spcPts val="0"/>
                  </a:spcAft>
                  <a:buNone/>
                </a:pPr>
                <a:r>
                  <a:rPr b="0" lang="ja" sz="770">
                    <a:solidFill>
                      <a:srgbClr val="EBE7E0"/>
                    </a:solidFill>
                    <a:latin typeface="Noto Sans JP"/>
                    <a:ea typeface="Noto Sans JP"/>
                    <a:cs typeface="Noto Sans JP"/>
                    <a:sym typeface="Noto Sans JP"/>
                  </a:rPr>
                  <a:t>カラーパレットは、スタジオの象徴である深い真紅（ディープレッド）をアクセントカラーとして採用し、ベースには上品なオフホワイトとチャコールグレーを配置することで、写真や動画の魅力を最大限に引き立てます。</a:t>
                </a:r>
                <a:endParaRPr b="0" sz="770">
                  <a:solidFill>
                    <a:srgbClr val="EBE7E0"/>
                  </a:solidFill>
                  <a:latin typeface="Noto Sans JP"/>
                  <a:ea typeface="Noto Sans JP"/>
                  <a:cs typeface="Noto Sans JP"/>
                  <a:sym typeface="Noto Sans JP"/>
                </a:endParaRPr>
              </a:p>
              <a:p>
                <a:pPr indent="0" lvl="0" marL="0" rtl="0" algn="l">
                  <a:spcBef>
                    <a:spcPts val="900"/>
                  </a:spcBef>
                  <a:spcAft>
                    <a:spcPts val="0"/>
                  </a:spcAft>
                  <a:buNone/>
                </a:pPr>
                <a:r>
                  <a:rPr b="0" lang="ja" sz="770">
                    <a:solidFill>
                      <a:srgbClr val="EBE7E0"/>
                    </a:solidFill>
                    <a:latin typeface="Noto Sans JP"/>
                    <a:ea typeface="Noto Sans JP"/>
                    <a:cs typeface="Noto Sans JP"/>
                    <a:sym typeface="Noto Sans JP"/>
                  </a:rPr>
                  <a:t>タイポグラフィには、伝統と格式を感じさせるセリフ体（明朝体）を見出しに用い、本文には可読性の高いモダンなサンセリフ体（ゴシック体）を組み合わせることで、美しさと読みやすさを両立させます。また、余白をたっぷりと取ったレイアウトや、スクロールに合わせた滑らかなフェードインのアニメーションを実装し、サイトを訪れた瞬間に「Luna de Jerez」の優雅な空気に包まれるような没入感のあるデザインを目指します。</a:t>
                </a:r>
                <a:endParaRPr b="0" sz="770">
                  <a:solidFill>
                    <a:srgbClr val="EBE7E0"/>
                  </a:solidFill>
                  <a:latin typeface="Noto Sans JP"/>
                  <a:ea typeface="Noto Sans JP"/>
                  <a:cs typeface="Noto Sans JP"/>
                  <a:sym typeface="Noto Sans JP"/>
                </a:endParaRPr>
              </a:p>
            </p:txBody>
          </p:sp>
        </p:grpSp>
        <p:grpSp>
          <p:nvGrpSpPr>
            <p:cNvPr id="100" name="Google Shape;100;p16"/>
            <p:cNvGrpSpPr/>
            <p:nvPr/>
          </p:nvGrpSpPr>
          <p:grpSpPr>
            <a:xfrm>
              <a:off x="4476750" y="190500"/>
              <a:ext cx="3905400" cy="3429150"/>
              <a:chOff x="0" y="190500"/>
              <a:chExt cx="3905400" cy="3429150"/>
            </a:xfrm>
          </p:grpSpPr>
          <p:pic>
            <p:nvPicPr>
              <p:cNvPr id="101" name="Google Shape;101;p16"/>
              <p:cNvPicPr preferRelativeResize="0"/>
              <p:nvPr/>
            </p:nvPicPr>
            <p:blipFill rotWithShape="1">
              <a:blip r:embed="rId3">
                <a:alphaModFix/>
              </a:blip>
              <a:srcRect b="0" l="80" r="80" t="0"/>
              <a:stretch/>
            </p:blipFill>
            <p:spPr>
              <a:xfrm>
                <a:off x="0" y="190500"/>
                <a:ext cx="3905400" cy="2933700"/>
              </a:xfrm>
              <a:prstGeom prst="rect">
                <a:avLst/>
              </a:prstGeom>
              <a:noFill/>
              <a:ln>
                <a:noFill/>
              </a:ln>
            </p:spPr>
          </p:pic>
          <p:sp>
            <p:nvSpPr>
              <p:cNvPr id="102" name="Google Shape;102;p16"/>
              <p:cNvSpPr/>
              <p:nvPr/>
            </p:nvSpPr>
            <p:spPr>
              <a:xfrm>
                <a:off x="0" y="3238500"/>
                <a:ext cx="3905400" cy="96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6"/>
              <p:cNvSpPr txBox="1"/>
              <p:nvPr/>
            </p:nvSpPr>
            <p:spPr>
              <a:xfrm>
                <a:off x="0" y="3333750"/>
                <a:ext cx="3905400" cy="2859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r>
                  <a:rPr b="0" lang="ja" sz="900">
                    <a:solidFill>
                      <a:srgbClr val="888888"/>
                    </a:solidFill>
                    <a:latin typeface="Noto Sans JP"/>
                    <a:ea typeface="Noto Sans JP"/>
                    <a:cs typeface="Noto Sans JP"/>
                    <a:sym typeface="Noto Sans JP"/>
                  </a:rPr>
                  <a:t>TRADITION &amp; ELEGANCE — LUNA DE JEREZ</a:t>
                </a:r>
                <a:endParaRPr b="0" sz="900">
                  <a:solidFill>
                    <a:srgbClr val="888888"/>
                  </a:solidFill>
                  <a:latin typeface="Noto Sans JP"/>
                  <a:ea typeface="Noto Sans JP"/>
                  <a:cs typeface="Noto Sans JP"/>
                  <a:sym typeface="Noto Sans JP"/>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107" name="Shape 107"/>
        <p:cNvGrpSpPr/>
        <p:nvPr/>
      </p:nvGrpSpPr>
      <p:grpSpPr>
        <a:xfrm>
          <a:off x="0" y="0"/>
          <a:ext cx="0" cy="0"/>
          <a:chOff x="0" y="0"/>
          <a:chExt cx="0" cy="0"/>
        </a:xfrm>
      </p:grpSpPr>
      <p:grpSp>
        <p:nvGrpSpPr>
          <p:cNvPr id="108" name="Google Shape;108;p17"/>
          <p:cNvGrpSpPr/>
          <p:nvPr/>
        </p:nvGrpSpPr>
        <p:grpSpPr>
          <a:xfrm>
            <a:off x="381000" y="285750"/>
            <a:ext cx="1905000" cy="324000"/>
            <a:chOff x="0" y="0"/>
            <a:chExt cx="1905000" cy="324000"/>
          </a:xfrm>
        </p:grpSpPr>
        <p:sp>
          <p:nvSpPr>
            <p:cNvPr id="109" name="Google Shape;109;p17"/>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Luna de Jerez</a:t>
              </a:r>
              <a:endParaRPr/>
            </a:p>
          </p:txBody>
        </p:sp>
        <p:sp>
          <p:nvSpPr>
            <p:cNvPr id="110" name="Google Shape;110;p17"/>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1" name="Google Shape;111;p17"/>
          <p:cNvGrpSpPr/>
          <p:nvPr/>
        </p:nvGrpSpPr>
        <p:grpSpPr>
          <a:xfrm>
            <a:off x="381000" y="762000"/>
            <a:ext cx="8382000" cy="19200"/>
            <a:chOff x="0" y="0"/>
            <a:chExt cx="8382000" cy="19200"/>
          </a:xfrm>
        </p:grpSpPr>
        <p:sp>
          <p:nvSpPr>
            <p:cNvPr id="112" name="Google Shape;112;p17"/>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7"/>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4" name="Google Shape;114;p17"/>
          <p:cNvSpPr txBox="1"/>
          <p:nvPr/>
        </p:nvSpPr>
        <p:spPr>
          <a:xfrm>
            <a:off x="381000" y="904875"/>
            <a:ext cx="8382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360">
                <a:solidFill>
                  <a:srgbClr val="8B0000"/>
                </a:solidFill>
                <a:latin typeface="Noto Sans JP"/>
                <a:ea typeface="Noto Sans JP"/>
                <a:cs typeface="Noto Sans JP"/>
                <a:sym typeface="Noto Sans JP"/>
              </a:rPr>
              <a:t>INFORMATION ARCHITECTURE</a:t>
            </a:r>
            <a:endParaRPr b="0" sz="1360">
              <a:solidFill>
                <a:srgbClr val="8B0000"/>
              </a:solidFill>
              <a:latin typeface="Noto Sans JP"/>
              <a:ea typeface="Noto Sans JP"/>
              <a:cs typeface="Noto Sans JP"/>
              <a:sym typeface="Noto Sans JP"/>
            </a:endParaRPr>
          </a:p>
          <a:p>
            <a:pPr indent="0" lvl="0" marL="0" rtl="0" algn="l">
              <a:spcBef>
                <a:spcPts val="300"/>
              </a:spcBef>
              <a:spcAft>
                <a:spcPts val="0"/>
              </a:spcAft>
              <a:buNone/>
            </a:pPr>
            <a:r>
              <a:rPr b="1" lang="ja" sz="1700">
                <a:solidFill>
                  <a:srgbClr val="2C2C2C"/>
                </a:solidFill>
                <a:latin typeface="Arial"/>
                <a:ea typeface="Arial"/>
                <a:cs typeface="Arial"/>
                <a:sym typeface="Arial"/>
              </a:rPr>
              <a:t>目的の情報へ直感的にアクセスできる、シンプルかつ論理的なサイト構造を構築します。</a:t>
            </a:r>
            <a:endParaRPr b="1" sz="1700">
              <a:solidFill>
                <a:srgbClr val="2C2C2C"/>
              </a:solidFill>
              <a:latin typeface="Arial"/>
              <a:ea typeface="Arial"/>
              <a:cs typeface="Arial"/>
              <a:sym typeface="Arial"/>
            </a:endParaRPr>
          </a:p>
        </p:txBody>
      </p:sp>
      <p:sp>
        <p:nvSpPr>
          <p:cNvPr id="115" name="Google Shape;115;p17"/>
          <p:cNvSpPr txBox="1"/>
          <p:nvPr/>
        </p:nvSpPr>
        <p:spPr>
          <a:xfrm>
            <a:off x="381000" y="1619250"/>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200">
                <a:solidFill>
                  <a:srgbClr val="4A4A4A"/>
                </a:solidFill>
                <a:latin typeface="Noto Sans JP"/>
                <a:ea typeface="Noto Sans JP"/>
                <a:cs typeface="Noto Sans JP"/>
                <a:sym typeface="Noto Sans JP"/>
              </a:rPr>
              <a:t>リニューアル後のサイト構造（サイトマップ）は、既存の受講生が日常的に利用する機能へのアクセスを最優先に再設計されます。トップページをハブとして、情報をフラットに整理することで、クリック数を最小限に抑えます。</a:t>
            </a:r>
            <a:endParaRPr b="0" sz="1200">
              <a:solidFill>
                <a:srgbClr val="4A4A4A"/>
              </a:solidFill>
              <a:latin typeface="Noto Sans JP"/>
              <a:ea typeface="Noto Sans JP"/>
              <a:cs typeface="Noto Sans JP"/>
              <a:sym typeface="Noto Sans JP"/>
            </a:endParaRPr>
          </a:p>
        </p:txBody>
      </p:sp>
      <p:grpSp>
        <p:nvGrpSpPr>
          <p:cNvPr id="116" name="Google Shape;116;p17"/>
          <p:cNvGrpSpPr/>
          <p:nvPr/>
        </p:nvGrpSpPr>
        <p:grpSpPr>
          <a:xfrm>
            <a:off x="381000" y="2095500"/>
            <a:ext cx="2619300" cy="1923975"/>
            <a:chOff x="0" y="0"/>
            <a:chExt cx="2619300" cy="1923975"/>
          </a:xfrm>
        </p:grpSpPr>
        <p:grpSp>
          <p:nvGrpSpPr>
            <p:cNvPr id="117" name="Google Shape;117;p17"/>
            <p:cNvGrpSpPr/>
            <p:nvPr/>
          </p:nvGrpSpPr>
          <p:grpSpPr>
            <a:xfrm>
              <a:off x="0" y="0"/>
              <a:ext cx="2619300" cy="904800"/>
              <a:chOff x="0" y="0"/>
              <a:chExt cx="2619300" cy="904800"/>
            </a:xfrm>
          </p:grpSpPr>
          <p:sp>
            <p:nvSpPr>
              <p:cNvPr id="118" name="Google Shape;118;p17"/>
              <p:cNvSpPr/>
              <p:nvPr/>
            </p:nvSpPr>
            <p:spPr>
              <a:xfrm>
                <a:off x="0" y="0"/>
                <a:ext cx="2619300" cy="904800"/>
              </a:xfrm>
              <a:prstGeom prst="roundRect">
                <a:avLst>
                  <a:gd fmla="val 21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7"/>
              <p:cNvSpPr/>
              <p:nvPr/>
            </p:nvSpPr>
            <p:spPr>
              <a:xfrm>
                <a:off x="0" y="0"/>
                <a:ext cx="38100" cy="9048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HOME / ABOUT</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163">
                    <a:solidFill>
                      <a:srgbClr val="2C2C2C"/>
                    </a:solidFill>
                    <a:latin typeface="Arial"/>
                    <a:ea typeface="Arial"/>
                    <a:cs typeface="Arial"/>
                    <a:sym typeface="Arial"/>
                  </a:rPr>
                  <a:t>トップページ / スタジオ理念</a:t>
                </a:r>
                <a:endParaRPr b="1" sz="1163">
                  <a:solidFill>
                    <a:srgbClr val="2C2C2C"/>
                  </a:solidFill>
                  <a:latin typeface="Arial"/>
                  <a:ea typeface="Arial"/>
                  <a:cs typeface="Arial"/>
                  <a:sym typeface="Arial"/>
                </a:endParaRPr>
              </a:p>
              <a:p>
                <a:pPr indent="0" lvl="0" marL="0" rtl="0" algn="l">
                  <a:spcBef>
                    <a:spcPts val="450"/>
                  </a:spcBef>
                  <a:spcAft>
                    <a:spcPts val="0"/>
                  </a:spcAft>
                  <a:buNone/>
                </a:pPr>
                <a:r>
                  <a:rPr b="0" lang="ja" sz="853">
                    <a:solidFill>
                      <a:srgbClr val="666666"/>
                    </a:solidFill>
                    <a:latin typeface="Noto Sans JP"/>
                    <a:ea typeface="Noto Sans JP"/>
                    <a:cs typeface="Noto Sans JP"/>
                    <a:sym typeface="Noto Sans JP"/>
                  </a:rPr>
                  <a:t>・Home（トップページ）</a:t>
                </a:r>
                <a:br>
                  <a:rPr b="0" lang="ja" sz="853">
                    <a:solidFill>
                      <a:srgbClr val="666666"/>
                    </a:solidFill>
                    <a:latin typeface="Noto Sans JP"/>
                    <a:ea typeface="Noto Sans JP"/>
                    <a:cs typeface="Noto Sans JP"/>
                    <a:sym typeface="Noto Sans JP"/>
                  </a:rPr>
                </a:br>
                <a:r>
                  <a:rPr b="0" lang="ja" sz="853">
                    <a:solidFill>
                      <a:srgbClr val="666666"/>
                    </a:solidFill>
                    <a:latin typeface="Noto Sans JP"/>
                    <a:ea typeface="Noto Sans JP"/>
                    <a:cs typeface="Noto Sans JP"/>
                    <a:sym typeface="Noto Sans JP"/>
                  </a:rPr>
                  <a:t>・About（スタジオ理念・講師紹介）</a:t>
                </a:r>
                <a:endParaRPr b="0" sz="853">
                  <a:solidFill>
                    <a:srgbClr val="666666"/>
                  </a:solidFill>
                  <a:latin typeface="Noto Sans JP"/>
                  <a:ea typeface="Noto Sans JP"/>
                  <a:cs typeface="Noto Sans JP"/>
                  <a:sym typeface="Noto Sans JP"/>
                </a:endParaRPr>
              </a:p>
            </p:txBody>
          </p:sp>
        </p:grpSp>
        <p:grpSp>
          <p:nvGrpSpPr>
            <p:cNvPr id="121" name="Google Shape;121;p17"/>
            <p:cNvGrpSpPr/>
            <p:nvPr/>
          </p:nvGrpSpPr>
          <p:grpSpPr>
            <a:xfrm>
              <a:off x="0" y="1019175"/>
              <a:ext cx="2619300" cy="904800"/>
              <a:chOff x="0" y="0"/>
              <a:chExt cx="2619300" cy="904800"/>
            </a:xfrm>
          </p:grpSpPr>
          <p:sp>
            <p:nvSpPr>
              <p:cNvPr id="122" name="Google Shape;122;p17"/>
              <p:cNvSpPr/>
              <p:nvPr/>
            </p:nvSpPr>
            <p:spPr>
              <a:xfrm>
                <a:off x="0" y="0"/>
                <a:ext cx="2619300" cy="904800"/>
              </a:xfrm>
              <a:prstGeom prst="roundRect">
                <a:avLst>
                  <a:gd fmla="val 21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7"/>
              <p:cNvSpPr/>
              <p:nvPr/>
            </p:nvSpPr>
            <p:spPr>
              <a:xfrm>
                <a:off x="0" y="0"/>
                <a:ext cx="38100" cy="9048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CLASSES</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163">
                    <a:solidFill>
                      <a:srgbClr val="2C2C2C"/>
                    </a:solidFill>
                    <a:latin typeface="Arial"/>
                    <a:ea typeface="Arial"/>
                    <a:cs typeface="Arial"/>
                    <a:sym typeface="Arial"/>
                  </a:rPr>
                  <a:t>クラス・レッスン内容</a:t>
                </a:r>
                <a:endParaRPr b="1" sz="1163">
                  <a:solidFill>
                    <a:srgbClr val="2C2C2C"/>
                  </a:solidFill>
                  <a:latin typeface="Arial"/>
                  <a:ea typeface="Arial"/>
                  <a:cs typeface="Arial"/>
                  <a:sym typeface="Arial"/>
                </a:endParaRPr>
              </a:p>
              <a:p>
                <a:pPr indent="0" lvl="0" marL="0" rtl="0" algn="l">
                  <a:spcBef>
                    <a:spcPts val="450"/>
                  </a:spcBef>
                  <a:spcAft>
                    <a:spcPts val="0"/>
                  </a:spcAft>
                  <a:buNone/>
                </a:pPr>
                <a:r>
                  <a:rPr b="0" lang="ja" sz="853">
                    <a:solidFill>
                      <a:srgbClr val="666666"/>
                    </a:solidFill>
                    <a:latin typeface="Noto Sans JP"/>
                    <a:ea typeface="Noto Sans JP"/>
                    <a:cs typeface="Noto Sans JP"/>
                    <a:sym typeface="Noto Sans JP"/>
                  </a:rPr>
                  <a:t>・Classes（レベル別クラス案内・レッスンカリキュラム）</a:t>
                </a:r>
                <a:endParaRPr b="0" sz="853">
                  <a:solidFill>
                    <a:srgbClr val="666666"/>
                  </a:solidFill>
                  <a:latin typeface="Noto Sans JP"/>
                  <a:ea typeface="Noto Sans JP"/>
                  <a:cs typeface="Noto Sans JP"/>
                  <a:sym typeface="Noto Sans JP"/>
                </a:endParaRPr>
              </a:p>
            </p:txBody>
          </p:sp>
        </p:grpSp>
      </p:grpSp>
      <p:grpSp>
        <p:nvGrpSpPr>
          <p:cNvPr id="125" name="Google Shape;125;p17"/>
          <p:cNvGrpSpPr/>
          <p:nvPr/>
        </p:nvGrpSpPr>
        <p:grpSpPr>
          <a:xfrm>
            <a:off x="3257550" y="2095500"/>
            <a:ext cx="2619300" cy="1923975"/>
            <a:chOff x="0" y="0"/>
            <a:chExt cx="2619300" cy="1923975"/>
          </a:xfrm>
        </p:grpSpPr>
        <p:grpSp>
          <p:nvGrpSpPr>
            <p:cNvPr id="126" name="Google Shape;126;p17"/>
            <p:cNvGrpSpPr/>
            <p:nvPr/>
          </p:nvGrpSpPr>
          <p:grpSpPr>
            <a:xfrm>
              <a:off x="0" y="0"/>
              <a:ext cx="2619300" cy="904800"/>
              <a:chOff x="0" y="0"/>
              <a:chExt cx="2619300" cy="904800"/>
            </a:xfrm>
          </p:grpSpPr>
          <p:sp>
            <p:nvSpPr>
              <p:cNvPr id="127" name="Google Shape;127;p17"/>
              <p:cNvSpPr/>
              <p:nvPr/>
            </p:nvSpPr>
            <p:spPr>
              <a:xfrm>
                <a:off x="0" y="0"/>
                <a:ext cx="2619300" cy="904800"/>
              </a:xfrm>
              <a:prstGeom prst="roundRect">
                <a:avLst>
                  <a:gd fmla="val 21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7"/>
              <p:cNvSpPr/>
              <p:nvPr/>
            </p:nvSpPr>
            <p:spPr>
              <a:xfrm>
                <a:off x="0" y="0"/>
                <a:ext cx="38100" cy="9048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SCHEDULE &amp; PRICE</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163">
                    <a:solidFill>
                      <a:srgbClr val="2C2C2C"/>
                    </a:solidFill>
                    <a:latin typeface="Arial"/>
                    <a:ea typeface="Arial"/>
                    <a:cs typeface="Arial"/>
                    <a:sym typeface="Arial"/>
                  </a:rPr>
                  <a:t>スケジュール・料金体系</a:t>
                </a:r>
                <a:endParaRPr b="1" sz="1163">
                  <a:solidFill>
                    <a:srgbClr val="2C2C2C"/>
                  </a:solidFill>
                  <a:latin typeface="Arial"/>
                  <a:ea typeface="Arial"/>
                  <a:cs typeface="Arial"/>
                  <a:sym typeface="Arial"/>
                </a:endParaRPr>
              </a:p>
              <a:p>
                <a:pPr indent="0" lvl="0" marL="0" rtl="0" algn="l">
                  <a:spcBef>
                    <a:spcPts val="450"/>
                  </a:spcBef>
                  <a:spcAft>
                    <a:spcPts val="0"/>
                  </a:spcAft>
                  <a:buNone/>
                </a:pPr>
                <a:r>
                  <a:rPr b="0" lang="ja" sz="853">
                    <a:solidFill>
                      <a:srgbClr val="666666"/>
                    </a:solidFill>
                    <a:latin typeface="Noto Sans JP"/>
                    <a:ea typeface="Noto Sans JP"/>
                    <a:cs typeface="Noto Sans JP"/>
                    <a:sym typeface="Noto Sans JP"/>
                  </a:rPr>
                  <a:t>・Schedule &amp; Price（月謝・チケット料金・開講日程）</a:t>
                </a:r>
                <a:endParaRPr b="0" sz="853">
                  <a:solidFill>
                    <a:srgbClr val="666666"/>
                  </a:solidFill>
                  <a:latin typeface="Noto Sans JP"/>
                  <a:ea typeface="Noto Sans JP"/>
                  <a:cs typeface="Noto Sans JP"/>
                  <a:sym typeface="Noto Sans JP"/>
                </a:endParaRPr>
              </a:p>
            </p:txBody>
          </p:sp>
        </p:grpSp>
        <p:grpSp>
          <p:nvGrpSpPr>
            <p:cNvPr id="130" name="Google Shape;130;p17"/>
            <p:cNvGrpSpPr/>
            <p:nvPr/>
          </p:nvGrpSpPr>
          <p:grpSpPr>
            <a:xfrm>
              <a:off x="0" y="1019175"/>
              <a:ext cx="2619300" cy="904800"/>
              <a:chOff x="0" y="0"/>
              <a:chExt cx="2619300" cy="904800"/>
            </a:xfrm>
          </p:grpSpPr>
          <p:sp>
            <p:nvSpPr>
              <p:cNvPr id="131" name="Google Shape;131;p17"/>
              <p:cNvSpPr/>
              <p:nvPr/>
            </p:nvSpPr>
            <p:spPr>
              <a:xfrm>
                <a:off x="0" y="0"/>
                <a:ext cx="2619300" cy="904800"/>
              </a:xfrm>
              <a:prstGeom prst="roundRect">
                <a:avLst>
                  <a:gd fmla="val 21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7"/>
              <p:cNvSpPr/>
              <p:nvPr/>
            </p:nvSpPr>
            <p:spPr>
              <a:xfrm>
                <a:off x="0" y="0"/>
                <a:ext cx="38100" cy="9048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NEWS &amp; BLOG</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163">
                    <a:solidFill>
                      <a:srgbClr val="2C2C2C"/>
                    </a:solidFill>
                    <a:latin typeface="Arial"/>
                    <a:ea typeface="Arial"/>
                    <a:cs typeface="Arial"/>
                    <a:sym typeface="Arial"/>
                  </a:rPr>
                  <a:t>最新情報・ブログ</a:t>
                </a:r>
                <a:endParaRPr b="1" sz="1163">
                  <a:solidFill>
                    <a:srgbClr val="2C2C2C"/>
                  </a:solidFill>
                  <a:latin typeface="Arial"/>
                  <a:ea typeface="Arial"/>
                  <a:cs typeface="Arial"/>
                  <a:sym typeface="Arial"/>
                </a:endParaRPr>
              </a:p>
              <a:p>
                <a:pPr indent="0" lvl="0" marL="0" rtl="0" algn="l">
                  <a:spcBef>
                    <a:spcPts val="450"/>
                  </a:spcBef>
                  <a:spcAft>
                    <a:spcPts val="0"/>
                  </a:spcAft>
                  <a:buNone/>
                </a:pPr>
                <a:r>
                  <a:rPr b="0" lang="ja" sz="853">
                    <a:solidFill>
                      <a:srgbClr val="666666"/>
                    </a:solidFill>
                    <a:latin typeface="Noto Sans JP"/>
                    <a:ea typeface="Noto Sans JP"/>
                    <a:cs typeface="Noto Sans JP"/>
                    <a:sym typeface="Noto Sans JP"/>
                  </a:rPr>
                  <a:t>・News &amp; Blog（スタジオ最新情報・ココログ連携）</a:t>
                </a:r>
                <a:endParaRPr b="0" sz="853">
                  <a:solidFill>
                    <a:srgbClr val="666666"/>
                  </a:solidFill>
                  <a:latin typeface="Noto Sans JP"/>
                  <a:ea typeface="Noto Sans JP"/>
                  <a:cs typeface="Noto Sans JP"/>
                  <a:sym typeface="Noto Sans JP"/>
                </a:endParaRPr>
              </a:p>
            </p:txBody>
          </p:sp>
        </p:grpSp>
      </p:grpSp>
      <p:grpSp>
        <p:nvGrpSpPr>
          <p:cNvPr id="134" name="Google Shape;134;p17"/>
          <p:cNvGrpSpPr/>
          <p:nvPr/>
        </p:nvGrpSpPr>
        <p:grpSpPr>
          <a:xfrm>
            <a:off x="6143625" y="2095500"/>
            <a:ext cx="2619300" cy="1923975"/>
            <a:chOff x="0" y="0"/>
            <a:chExt cx="2619300" cy="1923975"/>
          </a:xfrm>
        </p:grpSpPr>
        <p:grpSp>
          <p:nvGrpSpPr>
            <p:cNvPr id="135" name="Google Shape;135;p17"/>
            <p:cNvGrpSpPr/>
            <p:nvPr/>
          </p:nvGrpSpPr>
          <p:grpSpPr>
            <a:xfrm>
              <a:off x="0" y="0"/>
              <a:ext cx="2619300" cy="904800"/>
              <a:chOff x="0" y="0"/>
              <a:chExt cx="2619300" cy="904800"/>
            </a:xfrm>
          </p:grpSpPr>
          <p:sp>
            <p:nvSpPr>
              <p:cNvPr id="136" name="Google Shape;136;p17"/>
              <p:cNvSpPr/>
              <p:nvPr/>
            </p:nvSpPr>
            <p:spPr>
              <a:xfrm>
                <a:off x="0" y="0"/>
                <a:ext cx="2619300" cy="904800"/>
              </a:xfrm>
              <a:prstGeom prst="roundRect">
                <a:avLst>
                  <a:gd fmla="val 21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7"/>
              <p:cNvSpPr/>
              <p:nvPr/>
            </p:nvSpPr>
            <p:spPr>
              <a:xfrm>
                <a:off x="0" y="0"/>
                <a:ext cx="38100" cy="9048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CONTACT</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163">
                    <a:solidFill>
                      <a:srgbClr val="2C2C2C"/>
                    </a:solidFill>
                    <a:latin typeface="Arial"/>
                    <a:ea typeface="Arial"/>
                    <a:cs typeface="Arial"/>
                    <a:sym typeface="Arial"/>
                  </a:rPr>
                  <a:t>お問い合わせ・予約</a:t>
                </a:r>
                <a:endParaRPr b="1" sz="1163">
                  <a:solidFill>
                    <a:srgbClr val="2C2C2C"/>
                  </a:solidFill>
                  <a:latin typeface="Arial"/>
                  <a:ea typeface="Arial"/>
                  <a:cs typeface="Arial"/>
                  <a:sym typeface="Arial"/>
                </a:endParaRPr>
              </a:p>
              <a:p>
                <a:pPr indent="0" lvl="0" marL="0" rtl="0" algn="l">
                  <a:spcBef>
                    <a:spcPts val="450"/>
                  </a:spcBef>
                  <a:spcAft>
                    <a:spcPts val="0"/>
                  </a:spcAft>
                  <a:buNone/>
                </a:pPr>
                <a:r>
                  <a:rPr b="0" lang="ja" sz="853">
                    <a:solidFill>
                      <a:srgbClr val="666666"/>
                    </a:solidFill>
                    <a:latin typeface="Noto Sans JP"/>
                    <a:ea typeface="Noto Sans JP"/>
                    <a:cs typeface="Noto Sans JP"/>
                    <a:sym typeface="Noto Sans JP"/>
                  </a:rPr>
                  <a:t>・Contact（お問い合わせ・体験レッスン予約）</a:t>
                </a:r>
                <a:endParaRPr b="0" sz="853">
                  <a:solidFill>
                    <a:srgbClr val="666666"/>
                  </a:solidFill>
                  <a:latin typeface="Noto Sans JP"/>
                  <a:ea typeface="Noto Sans JP"/>
                  <a:cs typeface="Noto Sans JP"/>
                  <a:sym typeface="Noto Sans JP"/>
                </a:endParaRPr>
              </a:p>
            </p:txBody>
          </p:sp>
        </p:grpSp>
        <p:grpSp>
          <p:nvGrpSpPr>
            <p:cNvPr id="139" name="Google Shape;139;p17"/>
            <p:cNvGrpSpPr/>
            <p:nvPr/>
          </p:nvGrpSpPr>
          <p:grpSpPr>
            <a:xfrm>
              <a:off x="0" y="1019175"/>
              <a:ext cx="2619300" cy="904800"/>
              <a:chOff x="0" y="0"/>
              <a:chExt cx="2619300" cy="904800"/>
            </a:xfrm>
          </p:grpSpPr>
          <p:sp>
            <p:nvSpPr>
              <p:cNvPr id="140" name="Google Shape;140;p17"/>
              <p:cNvSpPr/>
              <p:nvPr/>
            </p:nvSpPr>
            <p:spPr>
              <a:xfrm>
                <a:off x="0" y="0"/>
                <a:ext cx="2619300" cy="904800"/>
              </a:xfrm>
              <a:prstGeom prst="roundRect">
                <a:avLst>
                  <a:gd fmla="val 2105" name="adj"/>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7"/>
              <p:cNvSpPr/>
              <p:nvPr/>
            </p:nvSpPr>
            <p:spPr>
              <a:xfrm>
                <a:off x="0" y="0"/>
                <a:ext cx="2619300" cy="285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GLOBAL HEADER</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085">
                    <a:solidFill>
                      <a:srgbClr val="8B0000"/>
                    </a:solidFill>
                    <a:latin typeface="Arial"/>
                    <a:ea typeface="Arial"/>
                    <a:cs typeface="Arial"/>
                    <a:sym typeface="Arial"/>
                  </a:rPr>
                  <a:t>固定追従ナビゲーション</a:t>
                </a:r>
                <a:endParaRPr b="1" sz="1085">
                  <a:solidFill>
                    <a:srgbClr val="8B0000"/>
                  </a:solidFill>
                  <a:latin typeface="Arial"/>
                  <a:ea typeface="Arial"/>
                  <a:cs typeface="Arial"/>
                  <a:sym typeface="Arial"/>
                </a:endParaRPr>
              </a:p>
              <a:p>
                <a:pPr indent="0" lvl="0" marL="0" rtl="0" algn="l">
                  <a:spcBef>
                    <a:spcPts val="300"/>
                  </a:spcBef>
                  <a:spcAft>
                    <a:spcPts val="0"/>
                  </a:spcAft>
                  <a:buNone/>
                </a:pPr>
                <a:r>
                  <a:rPr b="0" lang="ja" sz="853">
                    <a:solidFill>
                      <a:srgbClr val="2C2C2C"/>
                    </a:solidFill>
                    <a:latin typeface="Noto Sans JP"/>
                    <a:ea typeface="Noto Sans JP"/>
                    <a:cs typeface="Noto Sans JP"/>
                    <a:sym typeface="Noto Sans JP"/>
                  </a:rPr>
                  <a:t>「スケジュール」「休講・代講情報」は全ページヘッダーから常時ダイレクトアクセス可能</a:t>
                </a:r>
                <a:endParaRPr b="0" sz="853">
                  <a:solidFill>
                    <a:srgbClr val="2C2C2C"/>
                  </a:solidFill>
                  <a:latin typeface="Noto Sans JP"/>
                  <a:ea typeface="Noto Sans JP"/>
                  <a:cs typeface="Noto Sans JP"/>
                  <a:sym typeface="Noto Sans JP"/>
                </a:endParaRPr>
              </a:p>
            </p:txBody>
          </p:sp>
        </p:grpSp>
      </p:grpSp>
      <p:grpSp>
        <p:nvGrpSpPr>
          <p:cNvPr id="143" name="Google Shape;143;p17"/>
          <p:cNvGrpSpPr/>
          <p:nvPr/>
        </p:nvGrpSpPr>
        <p:grpSpPr>
          <a:xfrm>
            <a:off x="381000" y="4143375"/>
            <a:ext cx="8382000" cy="619200"/>
            <a:chOff x="0" y="0"/>
            <a:chExt cx="8382000" cy="619200"/>
          </a:xfrm>
        </p:grpSpPr>
        <p:sp>
          <p:nvSpPr>
            <p:cNvPr id="144" name="Google Shape;144;p17"/>
            <p:cNvSpPr/>
            <p:nvPr/>
          </p:nvSpPr>
          <p:spPr>
            <a:xfrm>
              <a:off x="0" y="0"/>
              <a:ext cx="8382000" cy="619200"/>
            </a:xfrm>
            <a:prstGeom prst="roundRect">
              <a:avLst>
                <a:gd fmla="val 3076" name="adj"/>
              </a:avLst>
            </a:prstGeom>
            <a:solidFill>
              <a:srgbClr val="2C2C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7"/>
            <p:cNvSpPr/>
            <p:nvPr/>
          </p:nvSpPr>
          <p:spPr>
            <a:xfrm>
              <a:off x="0" y="0"/>
              <a:ext cx="57300" cy="6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7"/>
            <p:cNvSpPr txBox="1"/>
            <p:nvPr/>
          </p:nvSpPr>
          <p:spPr>
            <a:xfrm>
              <a:off x="238125" y="114300"/>
              <a:ext cx="7905900" cy="390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100">
                  <a:solidFill>
                    <a:srgbClr val="8B0000"/>
                  </a:solidFill>
                  <a:latin typeface="Noto Sans JP"/>
                  <a:ea typeface="Noto Sans JP"/>
                  <a:cs typeface="Noto Sans JP"/>
                  <a:sym typeface="Noto Sans JP"/>
                </a:rPr>
                <a:t>UX POINT:</a:t>
              </a:r>
              <a:r>
                <a:rPr b="0" lang="ja" sz="1100">
                  <a:solidFill>
                    <a:srgbClr val="FFFFFF"/>
                  </a:solidFill>
                  <a:latin typeface="Noto Sans JP"/>
                  <a:ea typeface="Noto Sans JP"/>
                  <a:cs typeface="Noto Sans JP"/>
                  <a:sym typeface="Noto Sans JP"/>
                </a:rPr>
                <a:t> 既存生徒様の利用頻度が最も高い「スケジュール」と「休講・代講情報」をヘッダー追従エリアに独立配置。どのページにいても迷うことなく直感的に必要な情報を取り出せる情報アーキテクチャを実現します。</a:t>
              </a:r>
              <a:endParaRPr b="0" sz="1100">
                <a:solidFill>
                  <a:srgbClr val="FFFFFF"/>
                </a:solidFill>
                <a:latin typeface="Noto Sans JP"/>
                <a:ea typeface="Noto Sans JP"/>
                <a:cs typeface="Noto Sans JP"/>
                <a:sym typeface="Noto Sans JP"/>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150" name="Shape 150"/>
        <p:cNvGrpSpPr/>
        <p:nvPr/>
      </p:nvGrpSpPr>
      <p:grpSpPr>
        <a:xfrm>
          <a:off x="0" y="0"/>
          <a:ext cx="0" cy="0"/>
          <a:chOff x="0" y="0"/>
          <a:chExt cx="0" cy="0"/>
        </a:xfrm>
      </p:grpSpPr>
      <p:grpSp>
        <p:nvGrpSpPr>
          <p:cNvPr id="151" name="Google Shape;151;p18"/>
          <p:cNvGrpSpPr/>
          <p:nvPr/>
        </p:nvGrpSpPr>
        <p:grpSpPr>
          <a:xfrm>
            <a:off x="381000" y="285750"/>
            <a:ext cx="1905000" cy="324000"/>
            <a:chOff x="0" y="0"/>
            <a:chExt cx="1905000" cy="324000"/>
          </a:xfrm>
        </p:grpSpPr>
        <p:sp>
          <p:nvSpPr>
            <p:cNvPr id="152" name="Google Shape;152;p18"/>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Luna de Jerez</a:t>
              </a:r>
              <a:endParaRPr/>
            </a:p>
          </p:txBody>
        </p:sp>
        <p:sp>
          <p:nvSpPr>
            <p:cNvPr id="153" name="Google Shape;153;p18"/>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4" name="Google Shape;154;p18"/>
          <p:cNvGrpSpPr/>
          <p:nvPr/>
        </p:nvGrpSpPr>
        <p:grpSpPr>
          <a:xfrm>
            <a:off x="381000" y="762000"/>
            <a:ext cx="8382000" cy="19200"/>
            <a:chOff x="0" y="0"/>
            <a:chExt cx="8382000" cy="19200"/>
          </a:xfrm>
        </p:grpSpPr>
        <p:sp>
          <p:nvSpPr>
            <p:cNvPr id="155" name="Google Shape;155;p18"/>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8"/>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7" name="Google Shape;157;p18"/>
          <p:cNvGrpSpPr/>
          <p:nvPr/>
        </p:nvGrpSpPr>
        <p:grpSpPr>
          <a:xfrm>
            <a:off x="381000" y="1047750"/>
            <a:ext cx="8382000" cy="3714900"/>
            <a:chOff x="0" y="0"/>
            <a:chExt cx="8382000" cy="3714900"/>
          </a:xfrm>
        </p:grpSpPr>
        <p:sp>
          <p:nvSpPr>
            <p:cNvPr id="158" name="Google Shape;158;p18"/>
            <p:cNvSpPr txBox="1"/>
            <p:nvPr/>
          </p:nvSpPr>
          <p:spPr>
            <a:xfrm>
              <a:off x="0" y="0"/>
              <a:ext cx="3905400" cy="371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480">
                  <a:solidFill>
                    <a:srgbClr val="8B0000"/>
                  </a:solidFill>
                  <a:latin typeface="Noto Sans JP"/>
                  <a:ea typeface="Noto Sans JP"/>
                  <a:cs typeface="Noto Sans JP"/>
                  <a:sym typeface="Noto Sans JP"/>
                </a:rPr>
                <a:t>CONCEPT &amp; DESIGN</a:t>
              </a:r>
              <a:endParaRPr b="0" sz="1480">
                <a:solidFill>
                  <a:srgbClr val="8B0000"/>
                </a:solidFill>
                <a:latin typeface="Noto Sans JP"/>
                <a:ea typeface="Noto Sans JP"/>
                <a:cs typeface="Noto Sans JP"/>
                <a:sym typeface="Noto Sans JP"/>
              </a:endParaRPr>
            </a:p>
            <a:p>
              <a:pPr indent="0" lvl="0" marL="0" rtl="0" algn="l">
                <a:spcBef>
                  <a:spcPts val="600"/>
                </a:spcBef>
                <a:spcAft>
                  <a:spcPts val="0"/>
                </a:spcAft>
                <a:buNone/>
              </a:pPr>
              <a:r>
                <a:rPr b="1" lang="ja" sz="1850">
                  <a:solidFill>
                    <a:srgbClr val="2C2C2C"/>
                  </a:solidFill>
                  <a:latin typeface="Arial"/>
                  <a:ea typeface="Arial"/>
                  <a:cs typeface="Arial"/>
                  <a:sym typeface="Arial"/>
                </a:rPr>
                <a:t>訪問者を一瞬で魅了するファーストビューと、迷わせない主要動線を両立</a:t>
              </a:r>
              <a:endParaRPr b="1" sz="1850">
                <a:solidFill>
                  <a:srgbClr val="2C2C2C"/>
                </a:solidFill>
                <a:latin typeface="Arial"/>
                <a:ea typeface="Arial"/>
                <a:cs typeface="Arial"/>
                <a:sym typeface="Arial"/>
              </a:endParaRPr>
            </a:p>
            <a:p>
              <a:pPr indent="0" lvl="0" marL="0" rtl="0" algn="l">
                <a:spcBef>
                  <a:spcPts val="1200"/>
                </a:spcBef>
                <a:spcAft>
                  <a:spcPts val="0"/>
                </a:spcAft>
                <a:buNone/>
              </a:pPr>
              <a:r>
                <a:rPr b="0" lang="ja" sz="1018">
                  <a:solidFill>
                    <a:srgbClr val="2C2C2C"/>
                  </a:solidFill>
                  <a:latin typeface="Noto Sans JP"/>
                  <a:ea typeface="Noto Sans JP"/>
                  <a:cs typeface="Noto Sans JP"/>
                  <a:sym typeface="Noto Sans JP"/>
                </a:rPr>
                <a:t>トップページは、スタジオの「顔」として、視覚的なインパクトと実用性を高次元で融合させたデザイン案を採用します。ファーストビュー（画面を開いて最初に目に入る領域）には、画面全体を贅沢に使用したヒーロービデオ（または高品質なスライドショー）を配置し、躍動感あふれるレッスンの風景や、講師の優雅な舞いを全画面で展開します。</a:t>
              </a:r>
              <a:endParaRPr b="0" sz="1018">
                <a:solidFill>
                  <a:srgbClr val="2C2C2C"/>
                </a:solidFill>
                <a:latin typeface="Noto Sans JP"/>
                <a:ea typeface="Noto Sans JP"/>
                <a:cs typeface="Noto Sans JP"/>
                <a:sym typeface="Noto Sans JP"/>
              </a:endParaRPr>
            </a:p>
            <a:p>
              <a:pPr indent="0" lvl="0" marL="0" rtl="0" algn="l">
                <a:spcBef>
                  <a:spcPts val="900"/>
                </a:spcBef>
                <a:spcAft>
                  <a:spcPts val="0"/>
                </a:spcAft>
                <a:buNone/>
              </a:pPr>
              <a:r>
                <a:rPr b="0" lang="ja" sz="971">
                  <a:solidFill>
                    <a:srgbClr val="666666"/>
                  </a:solidFill>
                  <a:latin typeface="Noto Sans JP"/>
                  <a:ea typeface="Noto Sans JP"/>
                  <a:cs typeface="Noto Sans JP"/>
                  <a:sym typeface="Noto Sans JP"/>
                </a:rPr>
                <a:t>映像の下部には、既存受講生向けの「今月のスケジュール」および「会員ログイン」へのクイックリンクボタンを明瞭に配置し、実用的な動線を確保します。スクロールを進めると、「News &amp; Updates」がカード形式でコンパクトに表示され、続いて「Pick Up Class」や「Upcoming Events」など、ファンや生徒が最も知りたい情報が雑誌のページをめくるように美しく展開されるレイアウトを採用しています。情報の優先順位を明確にすることで、情報過多を防ぎ、洗練された印象を保ちます。</a:t>
              </a:r>
              <a:endParaRPr b="0" sz="971">
                <a:solidFill>
                  <a:srgbClr val="666666"/>
                </a:solidFill>
                <a:latin typeface="Noto Sans JP"/>
                <a:ea typeface="Noto Sans JP"/>
                <a:cs typeface="Noto Sans JP"/>
                <a:sym typeface="Noto Sans JP"/>
              </a:endParaRPr>
            </a:p>
          </p:txBody>
        </p:sp>
        <p:pic>
          <p:nvPicPr>
            <p:cNvPr id="159" name="Google Shape;159;p18"/>
            <p:cNvPicPr preferRelativeResize="0"/>
            <p:nvPr/>
          </p:nvPicPr>
          <p:blipFill rotWithShape="1">
            <a:blip r:embed="rId3">
              <a:alphaModFix/>
            </a:blip>
            <a:srcRect b="0" l="0" r="0" t="0"/>
            <a:stretch/>
          </p:blipFill>
          <p:spPr>
            <a:xfrm>
              <a:off x="4191000" y="285750"/>
              <a:ext cx="4191000" cy="235740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163" name="Shape 163"/>
        <p:cNvGrpSpPr/>
        <p:nvPr/>
      </p:nvGrpSpPr>
      <p:grpSpPr>
        <a:xfrm>
          <a:off x="0" y="0"/>
          <a:ext cx="0" cy="0"/>
          <a:chOff x="0" y="0"/>
          <a:chExt cx="0" cy="0"/>
        </a:xfrm>
      </p:grpSpPr>
      <p:grpSp>
        <p:nvGrpSpPr>
          <p:cNvPr id="164" name="Google Shape;164;p19"/>
          <p:cNvGrpSpPr/>
          <p:nvPr/>
        </p:nvGrpSpPr>
        <p:grpSpPr>
          <a:xfrm>
            <a:off x="381000" y="238125"/>
            <a:ext cx="1905000" cy="285900"/>
            <a:chOff x="0" y="0"/>
            <a:chExt cx="1905000" cy="285900"/>
          </a:xfrm>
        </p:grpSpPr>
        <p:sp>
          <p:nvSpPr>
            <p:cNvPr id="165" name="Google Shape;165;p19"/>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600">
                  <a:solidFill>
                    <a:srgbClr val="2C2C2C"/>
                  </a:solidFill>
                  <a:latin typeface="Arial"/>
                  <a:ea typeface="Arial"/>
                  <a:cs typeface="Arial"/>
                  <a:sym typeface="Arial"/>
                </a:rPr>
                <a:t>Luna de Jerez</a:t>
              </a:r>
              <a:endParaRPr/>
            </a:p>
          </p:txBody>
        </p:sp>
        <p:sp>
          <p:nvSpPr>
            <p:cNvPr id="166" name="Google Shape;166;p19"/>
            <p:cNvSpPr/>
            <p:nvPr/>
          </p:nvSpPr>
          <p:spPr>
            <a:xfrm>
              <a:off x="0" y="24765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7" name="Google Shape;167;p19"/>
          <p:cNvGrpSpPr/>
          <p:nvPr/>
        </p:nvGrpSpPr>
        <p:grpSpPr>
          <a:xfrm>
            <a:off x="381000" y="619125"/>
            <a:ext cx="8382000" cy="19200"/>
            <a:chOff x="0" y="0"/>
            <a:chExt cx="8382000" cy="19200"/>
          </a:xfrm>
        </p:grpSpPr>
        <p:sp>
          <p:nvSpPr>
            <p:cNvPr id="168" name="Google Shape;168;p19"/>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9"/>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0" name="Google Shape;170;p19"/>
          <p:cNvSpPr txBox="1"/>
          <p:nvPr/>
        </p:nvSpPr>
        <p:spPr>
          <a:xfrm>
            <a:off x="381000" y="714375"/>
            <a:ext cx="8382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100">
                <a:solidFill>
                  <a:srgbClr val="8B0000"/>
                </a:solidFill>
                <a:latin typeface="Noto Sans JP"/>
                <a:ea typeface="Noto Sans JP"/>
                <a:cs typeface="Noto Sans JP"/>
                <a:sym typeface="Noto Sans JP"/>
              </a:rPr>
              <a:t>CLASSES &amp; LESSONS</a:t>
            </a:r>
            <a:endParaRPr b="0" sz="1100">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2000">
                <a:solidFill>
                  <a:srgbClr val="2C2C2C"/>
                </a:solidFill>
                <a:latin typeface="Arial"/>
                <a:ea typeface="Arial"/>
                <a:cs typeface="Arial"/>
                <a:sym typeface="Arial"/>
              </a:rPr>
              <a:t>各クラスの魅力と到達目標</a:t>
            </a:r>
            <a:endParaRPr b="1" sz="2000">
              <a:solidFill>
                <a:srgbClr val="2C2C2C"/>
              </a:solidFill>
              <a:latin typeface="Arial"/>
              <a:ea typeface="Arial"/>
              <a:cs typeface="Arial"/>
              <a:sym typeface="Arial"/>
            </a:endParaRPr>
          </a:p>
        </p:txBody>
      </p:sp>
      <p:grpSp>
        <p:nvGrpSpPr>
          <p:cNvPr id="171" name="Google Shape;171;p19"/>
          <p:cNvGrpSpPr/>
          <p:nvPr/>
        </p:nvGrpSpPr>
        <p:grpSpPr>
          <a:xfrm>
            <a:off x="381000" y="1266825"/>
            <a:ext cx="5181750" cy="247800"/>
            <a:chOff x="0" y="0"/>
            <a:chExt cx="5181750" cy="247800"/>
          </a:xfrm>
        </p:grpSpPr>
        <p:sp>
          <p:nvSpPr>
            <p:cNvPr id="172" name="Google Shape;172;p19"/>
            <p:cNvSpPr/>
            <p:nvPr/>
          </p:nvSpPr>
          <p:spPr>
            <a:xfrm>
              <a:off x="0" y="0"/>
              <a:ext cx="1238400" cy="247800"/>
            </a:xfrm>
            <a:prstGeom prst="roundRect">
              <a:avLst>
                <a:gd fmla="val 7692" name="adj"/>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0" y="28575"/>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000">
                  <a:solidFill>
                    <a:srgbClr val="FFFFFF"/>
                  </a:solidFill>
                  <a:latin typeface="Noto Sans JP"/>
                  <a:ea typeface="Noto Sans JP"/>
                  <a:cs typeface="Noto Sans JP"/>
                  <a:sym typeface="Noto Sans JP"/>
                </a:rPr>
                <a:t>入門・初級クラス</a:t>
              </a:r>
              <a:endParaRPr/>
            </a:p>
          </p:txBody>
        </p:sp>
        <p:sp>
          <p:nvSpPr>
            <p:cNvPr id="174" name="Google Shape;174;p19"/>
            <p:cNvSpPr/>
            <p:nvPr/>
          </p:nvSpPr>
          <p:spPr>
            <a:xfrm>
              <a:off x="1314450" y="0"/>
              <a:ext cx="1238400" cy="247800"/>
            </a:xfrm>
            <a:prstGeom prst="roundRect">
              <a:avLst>
                <a:gd fmla="val 7692" name="adj"/>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9"/>
            <p:cNvSpPr txBox="1"/>
            <p:nvPr/>
          </p:nvSpPr>
          <p:spPr>
            <a:xfrm>
              <a:off x="1314450" y="28575"/>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000">
                  <a:solidFill>
                    <a:srgbClr val="666666"/>
                  </a:solidFill>
                  <a:latin typeface="Noto Sans JP"/>
                  <a:ea typeface="Noto Sans JP"/>
                  <a:cs typeface="Noto Sans JP"/>
                  <a:sym typeface="Noto Sans JP"/>
                </a:rPr>
                <a:t>中級・上級クラス</a:t>
              </a:r>
              <a:endParaRPr/>
            </a:p>
          </p:txBody>
        </p:sp>
        <p:sp>
          <p:nvSpPr>
            <p:cNvPr id="176" name="Google Shape;176;p19"/>
            <p:cNvSpPr/>
            <p:nvPr/>
          </p:nvSpPr>
          <p:spPr>
            <a:xfrm>
              <a:off x="2628900" y="0"/>
              <a:ext cx="1238400" cy="247800"/>
            </a:xfrm>
            <a:prstGeom prst="roundRect">
              <a:avLst>
                <a:gd fmla="val 7692" name="adj"/>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2628900" y="28575"/>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000">
                  <a:solidFill>
                    <a:srgbClr val="666666"/>
                  </a:solidFill>
                  <a:latin typeface="Noto Sans JP"/>
                  <a:ea typeface="Noto Sans JP"/>
                  <a:cs typeface="Noto Sans JP"/>
                  <a:sym typeface="Noto Sans JP"/>
                </a:rPr>
                <a:t>振付クラス</a:t>
              </a:r>
              <a:endParaRPr/>
            </a:p>
          </p:txBody>
        </p:sp>
        <p:sp>
          <p:nvSpPr>
            <p:cNvPr id="178" name="Google Shape;178;p19"/>
            <p:cNvSpPr/>
            <p:nvPr/>
          </p:nvSpPr>
          <p:spPr>
            <a:xfrm>
              <a:off x="3943350" y="0"/>
              <a:ext cx="1238400" cy="247800"/>
            </a:xfrm>
            <a:prstGeom prst="roundRect">
              <a:avLst>
                <a:gd fmla="val 7692" name="adj"/>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9"/>
            <p:cNvSpPr txBox="1"/>
            <p:nvPr/>
          </p:nvSpPr>
          <p:spPr>
            <a:xfrm>
              <a:off x="3943350" y="28575"/>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000">
                  <a:solidFill>
                    <a:srgbClr val="666666"/>
                  </a:solidFill>
                  <a:latin typeface="Noto Sans JP"/>
                  <a:ea typeface="Noto Sans JP"/>
                  <a:cs typeface="Noto Sans JP"/>
                  <a:sym typeface="Noto Sans JP"/>
                </a:rPr>
                <a:t>テクニカ（技術）</a:t>
              </a:r>
              <a:endParaRPr/>
            </a:p>
          </p:txBody>
        </p:sp>
      </p:grpSp>
      <p:grpSp>
        <p:nvGrpSpPr>
          <p:cNvPr id="180" name="Google Shape;180;p19"/>
          <p:cNvGrpSpPr/>
          <p:nvPr/>
        </p:nvGrpSpPr>
        <p:grpSpPr>
          <a:xfrm>
            <a:off x="381000" y="1638300"/>
            <a:ext cx="2571900" cy="2933850"/>
            <a:chOff x="0" y="0"/>
            <a:chExt cx="2571900" cy="2933850"/>
          </a:xfrm>
        </p:grpSpPr>
        <p:pic>
          <p:nvPicPr>
            <p:cNvPr id="181" name="Google Shape;181;p19"/>
            <p:cNvPicPr preferRelativeResize="0"/>
            <p:nvPr/>
          </p:nvPicPr>
          <p:blipFill rotWithShape="1">
            <a:blip r:embed="rId3">
              <a:alphaModFix/>
            </a:blip>
            <a:srcRect b="22222" l="0" r="0" t="22222"/>
            <a:stretch/>
          </p:blipFill>
          <p:spPr>
            <a:xfrm>
              <a:off x="0" y="0"/>
              <a:ext cx="2571900" cy="1428900"/>
            </a:xfrm>
            <a:prstGeom prst="rect">
              <a:avLst/>
            </a:prstGeom>
            <a:noFill/>
            <a:ln>
              <a:noFill/>
            </a:ln>
          </p:spPr>
        </p:pic>
        <p:sp>
          <p:nvSpPr>
            <p:cNvPr id="182" name="Google Shape;182;p19"/>
            <p:cNvSpPr txBox="1"/>
            <p:nvPr/>
          </p:nvSpPr>
          <p:spPr>
            <a:xfrm>
              <a:off x="0" y="1504950"/>
              <a:ext cx="2571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300">
                  <a:solidFill>
                    <a:srgbClr val="8B0000"/>
                  </a:solidFill>
                  <a:latin typeface="Arial"/>
                  <a:ea typeface="Arial"/>
                  <a:cs typeface="Arial"/>
                  <a:sym typeface="Arial"/>
                </a:rPr>
                <a:t>01. 入門クラス（基礎）</a:t>
              </a:r>
              <a:endParaRPr b="1" sz="1300">
                <a:solidFill>
                  <a:srgbClr val="8B0000"/>
                </a:solidFill>
                <a:latin typeface="Arial"/>
                <a:ea typeface="Arial"/>
                <a:cs typeface="Arial"/>
                <a:sym typeface="Arial"/>
              </a:endParaRPr>
            </a:p>
            <a:p>
              <a:pPr indent="0" lvl="0" marL="0" rtl="0" algn="l">
                <a:spcBef>
                  <a:spcPts val="450"/>
                </a:spcBef>
                <a:spcAft>
                  <a:spcPts val="0"/>
                </a:spcAft>
                <a:buNone/>
              </a:pPr>
              <a:r>
                <a:rPr b="1" lang="ja" sz="1000">
                  <a:solidFill>
                    <a:srgbClr val="2C2C2C"/>
                  </a:solidFill>
                  <a:latin typeface="Noto Sans JP"/>
                  <a:ea typeface="Noto Sans JP"/>
                  <a:cs typeface="Noto Sans JP"/>
                  <a:sym typeface="Noto Sans JP"/>
                </a:rPr>
                <a:t>到達目標: 基本姿勢とセビジャーナスの習得</a:t>
              </a:r>
              <a:endParaRPr b="1" sz="1000">
                <a:solidFill>
                  <a:srgbClr val="2C2C2C"/>
                </a:solidFill>
                <a:latin typeface="Noto Sans JP"/>
                <a:ea typeface="Noto Sans JP"/>
                <a:cs typeface="Noto Sans JP"/>
                <a:sym typeface="Noto Sans JP"/>
              </a:endParaRPr>
            </a:p>
            <a:p>
              <a:pPr indent="0" lvl="0" marL="0" rtl="0" algn="l">
                <a:spcBef>
                  <a:spcPts val="600"/>
                </a:spcBef>
                <a:spcAft>
                  <a:spcPts val="450"/>
                </a:spcAft>
                <a:buNone/>
              </a:pPr>
              <a:r>
                <a:rPr b="0" lang="ja" sz="950">
                  <a:solidFill>
                    <a:srgbClr val="666666"/>
                  </a:solidFill>
                  <a:latin typeface="Noto Sans JP"/>
                  <a:ea typeface="Noto Sans JP"/>
                  <a:cs typeface="Noto Sans JP"/>
                  <a:sym typeface="Noto Sans JP"/>
                </a:rPr>
                <a:t>・対象: 初めてフラメンコを学ぶ方</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・持ち物: フラメンコシューズ、ファルダ</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・講師より: 身体の使い方から丁寧にお教えします。</a:t>
              </a:r>
              <a:endParaRPr b="0" sz="950">
                <a:solidFill>
                  <a:srgbClr val="666666"/>
                </a:solidFill>
                <a:latin typeface="Noto Sans JP"/>
                <a:ea typeface="Noto Sans JP"/>
                <a:cs typeface="Noto Sans JP"/>
                <a:sym typeface="Noto Sans JP"/>
              </a:endParaRPr>
            </a:p>
          </p:txBody>
        </p:sp>
      </p:grpSp>
      <p:grpSp>
        <p:nvGrpSpPr>
          <p:cNvPr id="183" name="Google Shape;183;p19"/>
          <p:cNvGrpSpPr/>
          <p:nvPr/>
        </p:nvGrpSpPr>
        <p:grpSpPr>
          <a:xfrm>
            <a:off x="3286125" y="1638300"/>
            <a:ext cx="2571900" cy="2933850"/>
            <a:chOff x="0" y="0"/>
            <a:chExt cx="2571900" cy="2933850"/>
          </a:xfrm>
        </p:grpSpPr>
        <p:pic>
          <p:nvPicPr>
            <p:cNvPr id="184" name="Google Shape;184;p19"/>
            <p:cNvPicPr preferRelativeResize="0"/>
            <p:nvPr/>
          </p:nvPicPr>
          <p:blipFill rotWithShape="1">
            <a:blip r:embed="rId4">
              <a:alphaModFix/>
            </a:blip>
            <a:srcRect b="22222" l="0" r="0" t="22222"/>
            <a:stretch/>
          </p:blipFill>
          <p:spPr>
            <a:xfrm>
              <a:off x="0" y="0"/>
              <a:ext cx="2571900" cy="1428900"/>
            </a:xfrm>
            <a:prstGeom prst="rect">
              <a:avLst/>
            </a:prstGeom>
            <a:noFill/>
            <a:ln>
              <a:noFill/>
            </a:ln>
          </p:spPr>
        </p:pic>
        <p:sp>
          <p:nvSpPr>
            <p:cNvPr id="185" name="Google Shape;185;p19"/>
            <p:cNvSpPr txBox="1"/>
            <p:nvPr/>
          </p:nvSpPr>
          <p:spPr>
            <a:xfrm>
              <a:off x="0" y="1504950"/>
              <a:ext cx="2571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300">
                  <a:solidFill>
                    <a:srgbClr val="8B0000"/>
                  </a:solidFill>
                  <a:latin typeface="Arial"/>
                  <a:ea typeface="Arial"/>
                  <a:cs typeface="Arial"/>
                  <a:sym typeface="Arial"/>
                </a:rPr>
                <a:t>02. 初級・振付クラス</a:t>
              </a:r>
              <a:endParaRPr b="1" sz="1300">
                <a:solidFill>
                  <a:srgbClr val="8B0000"/>
                </a:solidFill>
                <a:latin typeface="Arial"/>
                <a:ea typeface="Arial"/>
                <a:cs typeface="Arial"/>
                <a:sym typeface="Arial"/>
              </a:endParaRPr>
            </a:p>
            <a:p>
              <a:pPr indent="0" lvl="0" marL="0" rtl="0" algn="l">
                <a:spcBef>
                  <a:spcPts val="450"/>
                </a:spcBef>
                <a:spcAft>
                  <a:spcPts val="0"/>
                </a:spcAft>
                <a:buNone/>
              </a:pPr>
              <a:r>
                <a:rPr b="1" lang="ja" sz="1000">
                  <a:solidFill>
                    <a:srgbClr val="2C2C2C"/>
                  </a:solidFill>
                  <a:latin typeface="Noto Sans JP"/>
                  <a:ea typeface="Noto Sans JP"/>
                  <a:cs typeface="Noto Sans JP"/>
                  <a:sym typeface="Noto Sans JP"/>
                </a:rPr>
                <a:t>到達目標: 1曲を通した豊かな表現力の獲得</a:t>
              </a:r>
              <a:endParaRPr b="1" sz="1000">
                <a:solidFill>
                  <a:srgbClr val="2C2C2C"/>
                </a:solidFill>
                <a:latin typeface="Noto Sans JP"/>
                <a:ea typeface="Noto Sans JP"/>
                <a:cs typeface="Noto Sans JP"/>
                <a:sym typeface="Noto Sans JP"/>
              </a:endParaRPr>
            </a:p>
            <a:p>
              <a:pPr indent="0" lvl="0" marL="0" rtl="0" algn="l">
                <a:spcBef>
                  <a:spcPts val="600"/>
                </a:spcBef>
                <a:spcAft>
                  <a:spcPts val="450"/>
                </a:spcAft>
                <a:buNone/>
              </a:pPr>
              <a:r>
                <a:rPr b="0" lang="ja" sz="950">
                  <a:solidFill>
                    <a:srgbClr val="666666"/>
                  </a:solidFill>
                  <a:latin typeface="Noto Sans JP"/>
                  <a:ea typeface="Noto Sans JP"/>
                  <a:cs typeface="Noto Sans JP"/>
                  <a:sym typeface="Noto Sans JP"/>
                </a:rPr>
                <a:t>・対象: 基本ステップを修了した方</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・持ち物: 扇子（アバニコ）、シューズ</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・講師より: 音楽と一体になる歓びを体感しましょう。</a:t>
              </a:r>
              <a:endParaRPr b="0" sz="950">
                <a:solidFill>
                  <a:srgbClr val="666666"/>
                </a:solidFill>
                <a:latin typeface="Noto Sans JP"/>
                <a:ea typeface="Noto Sans JP"/>
                <a:cs typeface="Noto Sans JP"/>
                <a:sym typeface="Noto Sans JP"/>
              </a:endParaRPr>
            </a:p>
          </p:txBody>
        </p:sp>
      </p:grpSp>
      <p:grpSp>
        <p:nvGrpSpPr>
          <p:cNvPr id="186" name="Google Shape;186;p19"/>
          <p:cNvGrpSpPr/>
          <p:nvPr/>
        </p:nvGrpSpPr>
        <p:grpSpPr>
          <a:xfrm>
            <a:off x="6191250" y="1638300"/>
            <a:ext cx="2571900" cy="2933850"/>
            <a:chOff x="0" y="0"/>
            <a:chExt cx="2571900" cy="2933850"/>
          </a:xfrm>
        </p:grpSpPr>
        <p:pic>
          <p:nvPicPr>
            <p:cNvPr id="187" name="Google Shape;187;p19"/>
            <p:cNvPicPr preferRelativeResize="0"/>
            <p:nvPr/>
          </p:nvPicPr>
          <p:blipFill rotWithShape="1">
            <a:blip r:embed="rId5">
              <a:alphaModFix/>
            </a:blip>
            <a:srcRect b="22222" l="0" r="0" t="22222"/>
            <a:stretch/>
          </p:blipFill>
          <p:spPr>
            <a:xfrm>
              <a:off x="0" y="0"/>
              <a:ext cx="2571900" cy="1428900"/>
            </a:xfrm>
            <a:prstGeom prst="rect">
              <a:avLst/>
            </a:prstGeom>
            <a:noFill/>
            <a:ln>
              <a:noFill/>
            </a:ln>
          </p:spPr>
        </p:pic>
        <p:sp>
          <p:nvSpPr>
            <p:cNvPr id="188" name="Google Shape;188;p19"/>
            <p:cNvSpPr txBox="1"/>
            <p:nvPr/>
          </p:nvSpPr>
          <p:spPr>
            <a:xfrm>
              <a:off x="0" y="1504950"/>
              <a:ext cx="2571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300">
                  <a:solidFill>
                    <a:srgbClr val="8B0000"/>
                  </a:solidFill>
                  <a:latin typeface="Arial"/>
                  <a:ea typeface="Arial"/>
                  <a:cs typeface="Arial"/>
                  <a:sym typeface="Arial"/>
                </a:rPr>
                <a:t>03. テクニカ（強化）</a:t>
              </a:r>
              <a:endParaRPr b="1" sz="1300">
                <a:solidFill>
                  <a:srgbClr val="8B0000"/>
                </a:solidFill>
                <a:latin typeface="Arial"/>
                <a:ea typeface="Arial"/>
                <a:cs typeface="Arial"/>
                <a:sym typeface="Arial"/>
              </a:endParaRPr>
            </a:p>
            <a:p>
              <a:pPr indent="0" lvl="0" marL="0" rtl="0" algn="l">
                <a:spcBef>
                  <a:spcPts val="450"/>
                </a:spcBef>
                <a:spcAft>
                  <a:spcPts val="0"/>
                </a:spcAft>
                <a:buNone/>
              </a:pPr>
              <a:r>
                <a:rPr b="1" lang="ja" sz="1000">
                  <a:solidFill>
                    <a:srgbClr val="2C2C2C"/>
                  </a:solidFill>
                  <a:latin typeface="Noto Sans JP"/>
                  <a:ea typeface="Noto Sans JP"/>
                  <a:cs typeface="Noto Sans JP"/>
                  <a:sym typeface="Noto Sans JP"/>
                </a:rPr>
                <a:t>到達目標: サパテアードと回転軸の完成</a:t>
              </a:r>
              <a:endParaRPr b="1" sz="1000">
                <a:solidFill>
                  <a:srgbClr val="2C2C2C"/>
                </a:solidFill>
                <a:latin typeface="Noto Sans JP"/>
                <a:ea typeface="Noto Sans JP"/>
                <a:cs typeface="Noto Sans JP"/>
                <a:sym typeface="Noto Sans JP"/>
              </a:endParaRPr>
            </a:p>
            <a:p>
              <a:pPr indent="0" lvl="0" marL="0" rtl="0" algn="l">
                <a:spcBef>
                  <a:spcPts val="600"/>
                </a:spcBef>
                <a:spcAft>
                  <a:spcPts val="450"/>
                </a:spcAft>
                <a:buNone/>
              </a:pPr>
              <a:r>
                <a:rPr b="0" lang="ja" sz="950">
                  <a:solidFill>
                    <a:srgbClr val="666666"/>
                  </a:solidFill>
                  <a:latin typeface="Noto Sans JP"/>
                  <a:ea typeface="Noto Sans JP"/>
                  <a:cs typeface="Noto Sans JP"/>
                  <a:sym typeface="Noto Sans JP"/>
                </a:rPr>
                <a:t>・対象: 足さばきや体幹を強化したい全レベル</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・持ち物: 動きやすいレッスン着、シューズ</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・講師より: ぶれない軸と確かな技術を築きます。</a:t>
              </a:r>
              <a:endParaRPr b="0" sz="950">
                <a:solidFill>
                  <a:srgbClr val="666666"/>
                </a:solidFill>
                <a:latin typeface="Noto Sans JP"/>
                <a:ea typeface="Noto Sans JP"/>
                <a:cs typeface="Noto Sans JP"/>
                <a:sym typeface="Noto Sans JP"/>
              </a:endParaRPr>
            </a:p>
          </p:txBody>
        </p:sp>
      </p:grpSp>
      <p:grpSp>
        <p:nvGrpSpPr>
          <p:cNvPr id="189" name="Google Shape;189;p19"/>
          <p:cNvGrpSpPr/>
          <p:nvPr/>
        </p:nvGrpSpPr>
        <p:grpSpPr>
          <a:xfrm>
            <a:off x="381000" y="4305300"/>
            <a:ext cx="8382000" cy="552600"/>
            <a:chOff x="0" y="0"/>
            <a:chExt cx="8382000" cy="552600"/>
          </a:xfrm>
        </p:grpSpPr>
        <p:sp>
          <p:nvSpPr>
            <p:cNvPr id="190" name="Google Shape;190;p19"/>
            <p:cNvSpPr/>
            <p:nvPr/>
          </p:nvSpPr>
          <p:spPr>
            <a:xfrm>
              <a:off x="0" y="0"/>
              <a:ext cx="8382000" cy="552600"/>
            </a:xfrm>
            <a:prstGeom prst="roundRect">
              <a:avLst>
                <a:gd fmla="val 3448" name="adj"/>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9"/>
            <p:cNvSpPr/>
            <p:nvPr/>
          </p:nvSpPr>
          <p:spPr>
            <a:xfrm>
              <a:off x="0" y="0"/>
              <a:ext cx="38100" cy="5526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9"/>
            <p:cNvSpPr txBox="1"/>
            <p:nvPr/>
          </p:nvSpPr>
          <p:spPr>
            <a:xfrm>
              <a:off x="190500" y="76200"/>
              <a:ext cx="80010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850">
                  <a:solidFill>
                    <a:srgbClr val="8B0000"/>
                  </a:solidFill>
                  <a:latin typeface="Noto Sans JP"/>
                  <a:ea typeface="Noto Sans JP"/>
                  <a:cs typeface="Noto Sans JP"/>
                  <a:sym typeface="Noto Sans JP"/>
                </a:rPr>
                <a:t>【どのクラスを選べばよいか迷っている方へ】</a:t>
              </a:r>
              <a:endParaRPr b="1" sz="850">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0" lang="ja" sz="808">
                  <a:solidFill>
                    <a:srgbClr val="666666"/>
                  </a:solidFill>
                  <a:latin typeface="Noto Sans JP"/>
                  <a:ea typeface="Noto Sans JP"/>
                  <a:cs typeface="Noto Sans JP"/>
                  <a:sym typeface="Noto Sans JP"/>
                </a:rPr>
                <a:t>現在のスキルの確認や次のレベルへのステップアップに不安がある方は、担当講師にお気軽にご相談ください。受講生一人ひとりの目的と成長速度に合わせた最適な学習ルートをご案内し、継続的なステップアップを丁寧にサポートします。</a:t>
              </a:r>
              <a:endParaRPr b="0" sz="808">
                <a:solidFill>
                  <a:srgbClr val="666666"/>
                </a:solidFill>
                <a:latin typeface="Noto Sans JP"/>
                <a:ea typeface="Noto Sans JP"/>
                <a:cs typeface="Noto Sans JP"/>
                <a:sym typeface="Noto Sans J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p:nvPr/>
        </p:nvSpPr>
        <p:spPr>
          <a:xfrm>
            <a:off x="0" y="0"/>
            <a:ext cx="9144000" cy="5143500"/>
          </a:xfrm>
          <a:prstGeom prst="rect">
            <a:avLst/>
          </a:prstGeom>
          <a:solidFill>
            <a:srgbClr val="F8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8" name="Google Shape;198;p20"/>
          <p:cNvGrpSpPr/>
          <p:nvPr/>
        </p:nvGrpSpPr>
        <p:grpSpPr>
          <a:xfrm>
            <a:off x="381000" y="285750"/>
            <a:ext cx="1905000" cy="324000"/>
            <a:chOff x="0" y="0"/>
            <a:chExt cx="1905000" cy="324000"/>
          </a:xfrm>
        </p:grpSpPr>
        <p:sp>
          <p:nvSpPr>
            <p:cNvPr id="199" name="Google Shape;199;p20"/>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Luna de Jerez</a:t>
              </a:r>
              <a:endParaRPr/>
            </a:p>
          </p:txBody>
        </p:sp>
        <p:sp>
          <p:nvSpPr>
            <p:cNvPr id="200" name="Google Shape;200;p20"/>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01" name="Google Shape;201;p20"/>
          <p:cNvGrpSpPr/>
          <p:nvPr/>
        </p:nvGrpSpPr>
        <p:grpSpPr>
          <a:xfrm>
            <a:off x="381000" y="762000"/>
            <a:ext cx="8382000" cy="19200"/>
            <a:chOff x="0" y="0"/>
            <a:chExt cx="8382000" cy="19200"/>
          </a:xfrm>
        </p:grpSpPr>
        <p:sp>
          <p:nvSpPr>
            <p:cNvPr id="202" name="Google Shape;202;p20"/>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20"/>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04" name="Google Shape;204;p20"/>
          <p:cNvSpPr txBox="1"/>
          <p:nvPr/>
        </p:nvSpPr>
        <p:spPr>
          <a:xfrm>
            <a:off x="381000" y="904875"/>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スタジオの魂である講師陣の情熱と、フラメンコへの深い敬意を伝える</a:t>
            </a:r>
            <a:endParaRPr b="1" sz="1800">
              <a:solidFill>
                <a:srgbClr val="2C2C2C"/>
              </a:solidFill>
              <a:latin typeface="Arial"/>
              <a:ea typeface="Arial"/>
              <a:cs typeface="Arial"/>
              <a:sym typeface="Arial"/>
            </a:endParaRPr>
          </a:p>
        </p:txBody>
      </p:sp>
      <p:grpSp>
        <p:nvGrpSpPr>
          <p:cNvPr id="205" name="Google Shape;205;p20"/>
          <p:cNvGrpSpPr/>
          <p:nvPr/>
        </p:nvGrpSpPr>
        <p:grpSpPr>
          <a:xfrm>
            <a:off x="381000" y="1476375"/>
            <a:ext cx="3048000" cy="3457500"/>
            <a:chOff x="0" y="0"/>
            <a:chExt cx="3048000" cy="3457500"/>
          </a:xfrm>
        </p:grpSpPr>
        <p:pic>
          <p:nvPicPr>
            <p:cNvPr id="206" name="Google Shape;206;p20"/>
            <p:cNvPicPr preferRelativeResize="0"/>
            <p:nvPr/>
          </p:nvPicPr>
          <p:blipFill rotWithShape="1">
            <a:blip r:embed="rId3">
              <a:alphaModFix/>
            </a:blip>
            <a:srcRect b="0" l="0" r="0" t="0"/>
            <a:stretch/>
          </p:blipFill>
          <p:spPr>
            <a:xfrm>
              <a:off x="0" y="0"/>
              <a:ext cx="3048000" cy="3048000"/>
            </a:xfrm>
            <a:prstGeom prst="rect">
              <a:avLst/>
            </a:prstGeom>
            <a:noFill/>
            <a:ln>
              <a:noFill/>
            </a:ln>
          </p:spPr>
        </p:pic>
        <p:sp>
          <p:nvSpPr>
            <p:cNvPr id="207" name="Google Shape;207;p20"/>
            <p:cNvSpPr txBox="1"/>
            <p:nvPr/>
          </p:nvSpPr>
          <p:spPr>
            <a:xfrm>
              <a:off x="0" y="3124200"/>
              <a:ext cx="30480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000">
                  <a:solidFill>
                    <a:srgbClr val="666666"/>
                  </a:solidFill>
                  <a:latin typeface="Noto Sans JP"/>
                  <a:ea typeface="Noto Sans JP"/>
                  <a:cs typeface="Noto Sans JP"/>
                  <a:sym typeface="Noto Sans JP"/>
                </a:rPr>
                <a:t>INSTRUCTOR &amp; PHILOSOPHY</a:t>
              </a:r>
              <a:endParaRPr b="0" sz="1000">
                <a:solidFill>
                  <a:srgbClr val="666666"/>
                </a:solidFill>
                <a:latin typeface="Noto Sans JP"/>
                <a:ea typeface="Noto Sans JP"/>
                <a:cs typeface="Noto Sans JP"/>
                <a:sym typeface="Noto Sans JP"/>
              </a:endParaRPr>
            </a:p>
            <a:p>
              <a:pPr indent="0" lvl="0" marL="0" rtl="0" algn="l">
                <a:spcBef>
                  <a:spcPts val="0"/>
                </a:spcBef>
                <a:spcAft>
                  <a:spcPts val="0"/>
                </a:spcAft>
                <a:buNone/>
              </a:pPr>
              <a:r>
                <a:rPr b="0" lang="ja" sz="1100">
                  <a:solidFill>
                    <a:srgbClr val="8B0000"/>
                  </a:solidFill>
                  <a:latin typeface="Noto Sans JP"/>
                  <a:ea typeface="Noto Sans JP"/>
                  <a:cs typeface="Noto Sans JP"/>
                  <a:sym typeface="Noto Sans JP"/>
                </a:rPr>
                <a:t>Luna de Jerez Studio Core Values</a:t>
              </a:r>
              <a:endParaRPr b="0" sz="1100">
                <a:solidFill>
                  <a:srgbClr val="8B0000"/>
                </a:solidFill>
                <a:latin typeface="Noto Sans JP"/>
                <a:ea typeface="Noto Sans JP"/>
                <a:cs typeface="Noto Sans JP"/>
                <a:sym typeface="Noto Sans JP"/>
              </a:endParaRPr>
            </a:p>
          </p:txBody>
        </p:sp>
      </p:grpSp>
      <p:grpSp>
        <p:nvGrpSpPr>
          <p:cNvPr id="208" name="Google Shape;208;p20"/>
          <p:cNvGrpSpPr/>
          <p:nvPr/>
        </p:nvGrpSpPr>
        <p:grpSpPr>
          <a:xfrm>
            <a:off x="3714750" y="1476375"/>
            <a:ext cx="5048400" cy="3095775"/>
            <a:chOff x="0" y="0"/>
            <a:chExt cx="5048400" cy="3095775"/>
          </a:xfrm>
        </p:grpSpPr>
        <p:sp>
          <p:nvSpPr>
            <p:cNvPr id="209" name="Google Shape;209;p20"/>
            <p:cNvSpPr txBox="1"/>
            <p:nvPr/>
          </p:nvSpPr>
          <p:spPr>
            <a:xfrm>
              <a:off x="0" y="0"/>
              <a:ext cx="5048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600">
                  <a:solidFill>
                    <a:srgbClr val="8B0000"/>
                  </a:solidFill>
                  <a:latin typeface="Arial"/>
                  <a:ea typeface="Arial"/>
                  <a:cs typeface="Arial"/>
                  <a:sym typeface="Arial"/>
                </a:rPr>
                <a:t>情熱と研鑽の歴史 — 講師陣の哲学</a:t>
              </a:r>
              <a:endParaRPr b="0" sz="1600">
                <a:solidFill>
                  <a:srgbClr val="8B0000"/>
                </a:solidFill>
                <a:latin typeface="Arial"/>
                <a:ea typeface="Arial"/>
                <a:cs typeface="Arial"/>
                <a:sym typeface="Arial"/>
              </a:endParaRPr>
            </a:p>
            <a:p>
              <a:pPr indent="0" lvl="0" marL="0" rtl="0" algn="l">
                <a:spcBef>
                  <a:spcPts val="600"/>
                </a:spcBef>
                <a:spcAft>
                  <a:spcPts val="0"/>
                </a:spcAft>
                <a:buNone/>
              </a:pPr>
              <a:r>
                <a:rPr b="0" lang="ja" sz="1100">
                  <a:solidFill>
                    <a:srgbClr val="2C2C2C"/>
                  </a:solidFill>
                  <a:latin typeface="Noto Sans JP"/>
                  <a:ea typeface="Noto Sans JP"/>
                  <a:cs typeface="Noto Sans JP"/>
                  <a:sym typeface="Noto Sans JP"/>
                </a:rPr>
                <a:t>「Luna de Jerez」の根幹を支えるのは、本場スペインで長年研鑽を積んできたプロフェッショナルな講師陣です。単なる技術の習得にとどまらず、フラメンコの背景にある歴史や文化、そして魂を伝える指導を行っています。</a:t>
              </a:r>
              <a:endParaRPr b="0" sz="1100">
                <a:solidFill>
                  <a:srgbClr val="2C2C2C"/>
                </a:solidFill>
                <a:latin typeface="Noto Sans JP"/>
                <a:ea typeface="Noto Sans JP"/>
                <a:cs typeface="Noto Sans JP"/>
                <a:sym typeface="Noto Sans JP"/>
              </a:endParaRPr>
            </a:p>
            <a:p>
              <a:pPr indent="0" lvl="0" marL="0" rtl="0" algn="l">
                <a:spcBef>
                  <a:spcPts val="600"/>
                </a:spcBef>
                <a:spcAft>
                  <a:spcPts val="0"/>
                </a:spcAft>
                <a:buNone/>
              </a:pPr>
              <a:r>
                <a:rPr b="0" lang="ja" sz="1100">
                  <a:solidFill>
                    <a:srgbClr val="2C2C2C"/>
                  </a:solidFill>
                  <a:latin typeface="Noto Sans JP"/>
                  <a:ea typeface="Noto Sans JP"/>
                  <a:cs typeface="Noto Sans JP"/>
                  <a:sym typeface="Noto Sans JP"/>
                </a:rPr>
                <a:t>一人ひとりの生徒が自身の表現を見出し、踊る喜びを深く実感できるよう、歩みに寄り添った熱量の高いレッスンを展開します。</a:t>
              </a:r>
              <a:endParaRPr b="0" sz="1100">
                <a:solidFill>
                  <a:srgbClr val="2C2C2C"/>
                </a:solidFill>
                <a:latin typeface="Noto Sans JP"/>
                <a:ea typeface="Noto Sans JP"/>
                <a:cs typeface="Noto Sans JP"/>
                <a:sym typeface="Noto Sans JP"/>
              </a:endParaRPr>
            </a:p>
          </p:txBody>
        </p:sp>
        <p:sp>
          <p:nvSpPr>
            <p:cNvPr id="210" name="Google Shape;210;p20"/>
            <p:cNvSpPr/>
            <p:nvPr/>
          </p:nvSpPr>
          <p:spPr>
            <a:xfrm>
              <a:off x="0" y="1504950"/>
              <a:ext cx="50484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1" name="Google Shape;211;p20"/>
            <p:cNvGrpSpPr/>
            <p:nvPr/>
          </p:nvGrpSpPr>
          <p:grpSpPr>
            <a:xfrm>
              <a:off x="0" y="1552575"/>
              <a:ext cx="5048175" cy="666825"/>
              <a:chOff x="0" y="-47625"/>
              <a:chExt cx="5048175" cy="666825"/>
            </a:xfrm>
          </p:grpSpPr>
          <p:sp>
            <p:nvSpPr>
              <p:cNvPr id="212" name="Google Shape;212;p20"/>
              <p:cNvSpPr txBox="1"/>
              <p:nvPr/>
            </p:nvSpPr>
            <p:spPr>
              <a:xfrm>
                <a:off x="0" y="-47625"/>
                <a:ext cx="381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2250">
                    <a:solidFill>
                      <a:srgbClr val="8B0000"/>
                    </a:solidFill>
                    <a:latin typeface="Arial"/>
                    <a:ea typeface="Arial"/>
                    <a:cs typeface="Arial"/>
                    <a:sym typeface="Arial"/>
                  </a:rPr>
                  <a:t>“</a:t>
                </a:r>
                <a:endParaRPr sz="875"/>
              </a:p>
            </p:txBody>
          </p:sp>
          <p:sp>
            <p:nvSpPr>
              <p:cNvPr id="213" name="Google Shape;213;p20"/>
              <p:cNvSpPr txBox="1"/>
              <p:nvPr/>
            </p:nvSpPr>
            <p:spPr>
              <a:xfrm>
                <a:off x="333375" y="0"/>
                <a:ext cx="47148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ja" sz="1300">
                    <a:solidFill>
                      <a:srgbClr val="2C2C2C"/>
                    </a:solidFill>
                    <a:latin typeface="Arial"/>
                    <a:ea typeface="Arial"/>
                    <a:cs typeface="Arial"/>
                    <a:sym typeface="Arial"/>
                  </a:rPr>
                  <a:t>「フラメンコは感情の言語。情熱を解放し、自分自身を真実に表現する場所をここに創りたい。」</a:t>
                </a:r>
                <a:endParaRPr b="0" i="1" sz="1300">
                  <a:solidFill>
                    <a:srgbClr val="2C2C2C"/>
                  </a:solidFill>
                  <a:latin typeface="Arial"/>
                  <a:ea typeface="Arial"/>
                  <a:cs typeface="Arial"/>
                  <a:sym typeface="Arial"/>
                </a:endParaRPr>
              </a:p>
              <a:p>
                <a:pPr indent="0" lvl="0" marL="0" rtl="0" algn="r">
                  <a:spcBef>
                    <a:spcPts val="300"/>
                  </a:spcBef>
                  <a:spcAft>
                    <a:spcPts val="0"/>
                  </a:spcAft>
                  <a:buNone/>
                </a:pPr>
                <a:r>
                  <a:rPr b="0" lang="ja" sz="1000">
                    <a:solidFill>
                      <a:srgbClr val="666666"/>
                    </a:solidFill>
                    <a:latin typeface="Noto Sans JP"/>
                    <a:ea typeface="Noto Sans JP"/>
                    <a:cs typeface="Noto Sans JP"/>
                    <a:sym typeface="Noto Sans JP"/>
                  </a:rPr>
                  <a:t>— 講師メッセージ（スペインでの研鑽を経て）</a:t>
                </a:r>
                <a:endParaRPr b="0" sz="1000">
                  <a:solidFill>
                    <a:srgbClr val="666666"/>
                  </a:solidFill>
                  <a:latin typeface="Noto Sans JP"/>
                  <a:ea typeface="Noto Sans JP"/>
                  <a:cs typeface="Noto Sans JP"/>
                  <a:sym typeface="Noto Sans JP"/>
                </a:endParaRPr>
              </a:p>
            </p:txBody>
          </p:sp>
        </p:grpSp>
        <p:grpSp>
          <p:nvGrpSpPr>
            <p:cNvPr id="214" name="Google Shape;214;p20"/>
            <p:cNvGrpSpPr/>
            <p:nvPr/>
          </p:nvGrpSpPr>
          <p:grpSpPr>
            <a:xfrm>
              <a:off x="0" y="2314575"/>
              <a:ext cx="5048400" cy="781200"/>
              <a:chOff x="0" y="0"/>
              <a:chExt cx="5048400" cy="781200"/>
            </a:xfrm>
          </p:grpSpPr>
          <p:sp>
            <p:nvSpPr>
              <p:cNvPr id="215" name="Google Shape;215;p20"/>
              <p:cNvSpPr/>
              <p:nvPr/>
            </p:nvSpPr>
            <p:spPr>
              <a:xfrm>
                <a:off x="0" y="0"/>
                <a:ext cx="5048400" cy="781200"/>
              </a:xfrm>
              <a:prstGeom prst="rect">
                <a:avLst/>
              </a:prstGeom>
              <a:solidFill>
                <a:srgbClr val="EBE7E0">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20"/>
              <p:cNvSpPr/>
              <p:nvPr/>
            </p:nvSpPr>
            <p:spPr>
              <a:xfrm>
                <a:off x="0" y="0"/>
                <a:ext cx="38100" cy="781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20"/>
              <p:cNvSpPr txBox="1"/>
              <p:nvPr/>
            </p:nvSpPr>
            <p:spPr>
              <a:xfrm>
                <a:off x="190500" y="95250"/>
                <a:ext cx="4667400" cy="5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018">
                    <a:solidFill>
                      <a:srgbClr val="8B0000"/>
                    </a:solidFill>
                    <a:latin typeface="Noto Sans JP"/>
                    <a:ea typeface="Noto Sans JP"/>
                    <a:cs typeface="Noto Sans JP"/>
                    <a:sym typeface="Noto Sans JP"/>
                  </a:rPr>
                  <a:t>アンダルシアの伝統と自己表現の融合</a:t>
                </a:r>
                <a:endParaRPr b="1" sz="1018">
                  <a:solidFill>
                    <a:srgbClr val="8B0000"/>
                  </a:solidFill>
                  <a:latin typeface="Noto Sans JP"/>
                  <a:ea typeface="Noto Sans JP"/>
                  <a:cs typeface="Noto Sans JP"/>
                  <a:sym typeface="Noto Sans JP"/>
                </a:endParaRPr>
              </a:p>
              <a:p>
                <a:pPr indent="0" lvl="0" marL="0" rtl="0" algn="l">
                  <a:spcBef>
                    <a:spcPts val="300"/>
                  </a:spcBef>
                  <a:spcAft>
                    <a:spcPts val="0"/>
                  </a:spcAft>
                  <a:buNone/>
                </a:pPr>
                <a:r>
                  <a:rPr b="0" lang="ja" sz="971">
                    <a:solidFill>
                      <a:srgbClr val="2C2C2C"/>
                    </a:solidFill>
                    <a:latin typeface="Noto Sans JP"/>
                    <a:ea typeface="Noto Sans JP"/>
                    <a:cs typeface="Noto Sans JP"/>
                    <a:sym typeface="Noto Sans JP"/>
                  </a:rPr>
                  <a:t>伝統的な芸術への深い敬意をベースに、すべての生徒が自己表現の喜びを見出せる最高の環境を提供すること。それがLuna de Jerezの不変のコアバリューです。</a:t>
                </a:r>
                <a:endParaRPr b="0" sz="971">
                  <a:solidFill>
                    <a:srgbClr val="2C2C2C"/>
                  </a:solidFill>
                  <a:latin typeface="Noto Sans JP"/>
                  <a:ea typeface="Noto Sans JP"/>
                  <a:cs typeface="Noto Sans JP"/>
                  <a:sym typeface="Noto Sans JP"/>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221" name="Shape 221"/>
        <p:cNvGrpSpPr/>
        <p:nvPr/>
      </p:nvGrpSpPr>
      <p:grpSpPr>
        <a:xfrm>
          <a:off x="0" y="0"/>
          <a:ext cx="0" cy="0"/>
          <a:chOff x="0" y="0"/>
          <a:chExt cx="0" cy="0"/>
        </a:xfrm>
      </p:grpSpPr>
      <p:grpSp>
        <p:nvGrpSpPr>
          <p:cNvPr id="222" name="Google Shape;222;p21"/>
          <p:cNvGrpSpPr/>
          <p:nvPr/>
        </p:nvGrpSpPr>
        <p:grpSpPr>
          <a:xfrm>
            <a:off x="381000" y="285750"/>
            <a:ext cx="1905000" cy="324000"/>
            <a:chOff x="0" y="0"/>
            <a:chExt cx="1905000" cy="324000"/>
          </a:xfrm>
        </p:grpSpPr>
        <p:sp>
          <p:nvSpPr>
            <p:cNvPr id="223" name="Google Shape;223;p21"/>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Luna de Jerez</a:t>
              </a:r>
              <a:endParaRPr/>
            </a:p>
          </p:txBody>
        </p:sp>
        <p:sp>
          <p:nvSpPr>
            <p:cNvPr id="224" name="Google Shape;224;p21"/>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25" name="Google Shape;225;p21"/>
          <p:cNvGrpSpPr/>
          <p:nvPr/>
        </p:nvGrpSpPr>
        <p:grpSpPr>
          <a:xfrm>
            <a:off x="381000" y="762000"/>
            <a:ext cx="8382000" cy="19200"/>
            <a:chOff x="0" y="0"/>
            <a:chExt cx="8382000" cy="19200"/>
          </a:xfrm>
        </p:grpSpPr>
        <p:sp>
          <p:nvSpPr>
            <p:cNvPr id="226" name="Google Shape;226;p21"/>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21"/>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28" name="Google Shape;228;p21"/>
          <p:cNvSpPr txBox="1"/>
          <p:nvPr/>
        </p:nvSpPr>
        <p:spPr>
          <a:xfrm>
            <a:off x="381000" y="904875"/>
            <a:ext cx="8382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018">
                <a:solidFill>
                  <a:srgbClr val="8B0000"/>
                </a:solidFill>
                <a:latin typeface="Noto Sans JP"/>
                <a:ea typeface="Noto Sans JP"/>
                <a:cs typeface="Noto Sans JP"/>
                <a:sym typeface="Noto Sans JP"/>
              </a:rPr>
              <a:t>SCHEDULE &amp; PRICING UI IMPROVEMENT</a:t>
            </a:r>
            <a:endParaRPr b="1" sz="1018">
              <a:solidFill>
                <a:srgbClr val="8B0000"/>
              </a:solidFill>
              <a:latin typeface="Noto Sans JP"/>
              <a:ea typeface="Noto Sans JP"/>
              <a:cs typeface="Noto Sans JP"/>
              <a:sym typeface="Noto Sans JP"/>
            </a:endParaRPr>
          </a:p>
          <a:p>
            <a:pPr indent="0" lvl="0" marL="0" rtl="0" algn="l">
              <a:spcBef>
                <a:spcPts val="300"/>
              </a:spcBef>
              <a:spcAft>
                <a:spcPts val="0"/>
              </a:spcAft>
              <a:buNone/>
            </a:pPr>
            <a:r>
              <a:rPr b="1" lang="ja" sz="1665">
                <a:solidFill>
                  <a:srgbClr val="2C2C2C"/>
                </a:solidFill>
                <a:latin typeface="Arial"/>
                <a:ea typeface="Arial"/>
                <a:cs typeface="Arial"/>
                <a:sym typeface="Arial"/>
              </a:rPr>
              <a:t>既存受講生が最も頻繁に利用するスケジュール情報を、圧倒的な視認性で提供します。</a:t>
            </a:r>
            <a:endParaRPr b="1" sz="1665">
              <a:solidFill>
                <a:srgbClr val="2C2C2C"/>
              </a:solidFill>
              <a:latin typeface="Arial"/>
              <a:ea typeface="Arial"/>
              <a:cs typeface="Arial"/>
              <a:sym typeface="Arial"/>
            </a:endParaRPr>
          </a:p>
        </p:txBody>
      </p:sp>
      <p:grpSp>
        <p:nvGrpSpPr>
          <p:cNvPr id="229" name="Google Shape;229;p21"/>
          <p:cNvGrpSpPr/>
          <p:nvPr/>
        </p:nvGrpSpPr>
        <p:grpSpPr>
          <a:xfrm>
            <a:off x="381000" y="1714500"/>
            <a:ext cx="4000500" cy="3048000"/>
            <a:chOff x="0" y="0"/>
            <a:chExt cx="4000500" cy="3048000"/>
          </a:xfrm>
        </p:grpSpPr>
        <p:sp>
          <p:nvSpPr>
            <p:cNvPr id="230" name="Google Shape;230;p21"/>
            <p:cNvSpPr/>
            <p:nvPr/>
          </p:nvSpPr>
          <p:spPr>
            <a:xfrm>
              <a:off x="0" y="0"/>
              <a:ext cx="4000500" cy="3048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1"/>
            <p:cNvSpPr/>
            <p:nvPr/>
          </p:nvSpPr>
          <p:spPr>
            <a:xfrm>
              <a:off x="0" y="0"/>
              <a:ext cx="4000500" cy="381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1"/>
            <p:cNvSpPr txBox="1"/>
            <p:nvPr/>
          </p:nvSpPr>
          <p:spPr>
            <a:xfrm>
              <a:off x="238125" y="238125"/>
              <a:ext cx="35244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600">
                  <a:solidFill>
                    <a:srgbClr val="2C2C2C"/>
                  </a:solidFill>
                  <a:latin typeface="Arial"/>
                  <a:ea typeface="Arial"/>
                  <a:cs typeface="Arial"/>
                  <a:sym typeface="Arial"/>
                </a:rPr>
                <a:t>スマホ最適化カレンダーUI</a:t>
              </a:r>
              <a:endParaRPr b="1" sz="1600">
                <a:solidFill>
                  <a:srgbClr val="2C2C2C"/>
                </a:solidFill>
                <a:latin typeface="Arial"/>
                <a:ea typeface="Arial"/>
                <a:cs typeface="Arial"/>
                <a:sym typeface="Arial"/>
              </a:endParaRPr>
            </a:p>
            <a:p>
              <a:pPr indent="0" lvl="0" marL="0" rtl="0" algn="l">
                <a:spcBef>
                  <a:spcPts val="450"/>
                </a:spcBef>
                <a:spcAft>
                  <a:spcPts val="0"/>
                </a:spcAft>
                <a:buNone/>
              </a:pPr>
              <a:r>
                <a:rPr b="0" lang="ja" sz="1100">
                  <a:solidFill>
                    <a:srgbClr val="8B0000"/>
                  </a:solidFill>
                  <a:latin typeface="Noto Sans JP"/>
                  <a:ea typeface="Noto Sans JP"/>
                  <a:cs typeface="Noto Sans JP"/>
                  <a:sym typeface="Noto Sans JP"/>
                </a:rPr>
                <a:t>ユーザビリティを最優先した操作性</a:t>
              </a:r>
              <a:endParaRPr b="0" sz="1100">
                <a:solidFill>
                  <a:srgbClr val="8B0000"/>
                </a:solidFill>
                <a:latin typeface="Noto Sans JP"/>
                <a:ea typeface="Noto Sans JP"/>
                <a:cs typeface="Noto Sans JP"/>
                <a:sym typeface="Noto Sans JP"/>
              </a:endParaRPr>
            </a:p>
            <a:p>
              <a:pPr indent="-317500" lvl="0" marL="457200" rtl="0" algn="l">
                <a:spcBef>
                  <a:spcPts val="1200"/>
                </a:spcBef>
                <a:spcAft>
                  <a:spcPts val="0"/>
                </a:spcAft>
                <a:buSzPts val="1400"/>
                <a:buChar char="●"/>
              </a:pPr>
              <a:r>
                <a:rPr b="1" lang="ja" sz="1100">
                  <a:solidFill>
                    <a:srgbClr val="8B0000"/>
                  </a:solidFill>
                  <a:latin typeface="Noto Sans JP"/>
                  <a:ea typeface="Noto Sans JP"/>
                  <a:cs typeface="Noto Sans JP"/>
                  <a:sym typeface="Noto Sans JP"/>
                </a:rPr>
                <a:t>ワンタップ即時表示：</a:t>
              </a:r>
              <a:br>
                <a:rPr b="0" lang="ja" sz="1100">
                  <a:solidFill>
                    <a:srgbClr val="2C2C2C"/>
                  </a:solidFill>
                  <a:latin typeface="Noto Sans JP"/>
                  <a:ea typeface="Noto Sans JP"/>
                  <a:cs typeface="Noto Sans JP"/>
                  <a:sym typeface="Noto Sans JP"/>
                </a:rPr>
              </a:br>
              <a:r>
                <a:rPr b="0" lang="ja" sz="1100">
                  <a:solidFill>
                    <a:srgbClr val="2C2C2C"/>
                  </a:solidFill>
                  <a:latin typeface="Noto Sans JP"/>
                  <a:ea typeface="Noto Sans JP"/>
                  <a:cs typeface="Noto Sans JP"/>
                  <a:sym typeface="Noto Sans JP"/>
                </a:rPr>
                <a:t>日付をタップするだけで、クラス一覧・担当講師・休講/代講情報をポップアップ出力。</a:t>
              </a:r>
              <a:endParaRPr b="0" sz="1100">
                <a:solidFill>
                  <a:srgbClr val="2C2C2C"/>
                </a:solidFill>
                <a:latin typeface="Noto Sans JP"/>
                <a:ea typeface="Noto Sans JP"/>
                <a:cs typeface="Noto Sans JP"/>
                <a:sym typeface="Noto Sans JP"/>
              </a:endParaRPr>
            </a:p>
            <a:p>
              <a:pPr indent="-317500" lvl="0" marL="457200" rtl="0" algn="l">
                <a:spcBef>
                  <a:spcPts val="900"/>
                </a:spcBef>
                <a:spcAft>
                  <a:spcPts val="0"/>
                </a:spcAft>
                <a:buSzPts val="1400"/>
                <a:buChar char="●"/>
              </a:pPr>
              <a:r>
                <a:rPr b="1" lang="ja" sz="1100">
                  <a:solidFill>
                    <a:srgbClr val="8B0000"/>
                  </a:solidFill>
                  <a:latin typeface="Noto Sans JP"/>
                  <a:ea typeface="Noto Sans JP"/>
                  <a:cs typeface="Noto Sans JP"/>
                  <a:sym typeface="Noto Sans JP"/>
                </a:rPr>
                <a:t>絞り込み検索機能：</a:t>
              </a:r>
              <a:br>
                <a:rPr b="0" lang="ja" sz="1100">
                  <a:solidFill>
                    <a:srgbClr val="2C2C2C"/>
                  </a:solidFill>
                  <a:latin typeface="Noto Sans JP"/>
                  <a:ea typeface="Noto Sans JP"/>
                  <a:cs typeface="Noto Sans JP"/>
                  <a:sym typeface="Noto Sans JP"/>
                </a:rPr>
              </a:br>
              <a:r>
                <a:rPr b="0" lang="ja" sz="1100">
                  <a:solidFill>
                    <a:srgbClr val="2C2C2C"/>
                  </a:solidFill>
                  <a:latin typeface="Noto Sans JP"/>
                  <a:ea typeface="Noto Sans JP"/>
                  <a:cs typeface="Noto Sans JP"/>
                  <a:sym typeface="Noto Sans JP"/>
                </a:rPr>
                <a:t>「入門クラスのみ」「特定講師のみ」など、必要な情報だけを迅速に抽出可能。</a:t>
              </a:r>
              <a:endParaRPr b="0" sz="1100">
                <a:solidFill>
                  <a:srgbClr val="2C2C2C"/>
                </a:solidFill>
                <a:latin typeface="Noto Sans JP"/>
                <a:ea typeface="Noto Sans JP"/>
                <a:cs typeface="Noto Sans JP"/>
                <a:sym typeface="Noto Sans JP"/>
              </a:endParaRPr>
            </a:p>
            <a:p>
              <a:pPr indent="-317500" lvl="0" marL="457200" rtl="0" algn="l">
                <a:spcBef>
                  <a:spcPts val="900"/>
                </a:spcBef>
                <a:spcAft>
                  <a:spcPts val="0"/>
                </a:spcAft>
                <a:buSzPts val="1400"/>
                <a:buChar char="●"/>
              </a:pPr>
              <a:r>
                <a:rPr b="1" lang="ja" sz="1100">
                  <a:solidFill>
                    <a:srgbClr val="8B0000"/>
                  </a:solidFill>
                  <a:latin typeface="Noto Sans JP"/>
                  <a:ea typeface="Noto Sans JP"/>
                  <a:cs typeface="Noto Sans JP"/>
                  <a:sym typeface="Noto Sans JP"/>
                </a:rPr>
                <a:t>脱・静的フォーマット：</a:t>
              </a:r>
              <a:br>
                <a:rPr b="0" lang="ja" sz="1100">
                  <a:solidFill>
                    <a:srgbClr val="2C2C2C"/>
                  </a:solidFill>
                  <a:latin typeface="Noto Sans JP"/>
                  <a:ea typeface="Noto Sans JP"/>
                  <a:cs typeface="Noto Sans JP"/>
                  <a:sym typeface="Noto Sans JP"/>
                </a:rPr>
              </a:br>
              <a:r>
                <a:rPr b="0" lang="ja" sz="1100">
                  <a:solidFill>
                    <a:srgbClr val="2C2C2C"/>
                  </a:solidFill>
                  <a:latin typeface="Noto Sans JP"/>
                  <a:ea typeface="Noto Sans JP"/>
                  <a:cs typeface="Noto Sans JP"/>
                  <a:sym typeface="Noto Sans JP"/>
                </a:rPr>
                <a:t>従来の表形式や画像提示から脱却し、完全なモバイル最適化を実現。</a:t>
              </a:r>
              <a:endParaRPr b="0" sz="1100">
                <a:solidFill>
                  <a:srgbClr val="2C2C2C"/>
                </a:solidFill>
                <a:latin typeface="Noto Sans JP"/>
                <a:ea typeface="Noto Sans JP"/>
                <a:cs typeface="Noto Sans JP"/>
                <a:sym typeface="Noto Sans JP"/>
              </a:endParaRPr>
            </a:p>
          </p:txBody>
        </p:sp>
      </p:grpSp>
      <p:grpSp>
        <p:nvGrpSpPr>
          <p:cNvPr id="233" name="Google Shape;233;p21"/>
          <p:cNvGrpSpPr/>
          <p:nvPr/>
        </p:nvGrpSpPr>
        <p:grpSpPr>
          <a:xfrm>
            <a:off x="4762500" y="1714500"/>
            <a:ext cx="4000500" cy="3048000"/>
            <a:chOff x="0" y="0"/>
            <a:chExt cx="4000500" cy="3048000"/>
          </a:xfrm>
        </p:grpSpPr>
        <p:sp>
          <p:nvSpPr>
            <p:cNvPr id="234" name="Google Shape;234;p21"/>
            <p:cNvSpPr/>
            <p:nvPr/>
          </p:nvSpPr>
          <p:spPr>
            <a:xfrm>
              <a:off x="0" y="0"/>
              <a:ext cx="4000500" cy="3048000"/>
            </a:xfrm>
            <a:prstGeom prst="rect">
              <a:avLst/>
            </a:prstGeom>
            <a:solidFill>
              <a:srgbClr val="2C2C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21"/>
            <p:cNvSpPr/>
            <p:nvPr/>
          </p:nvSpPr>
          <p:spPr>
            <a:xfrm>
              <a:off x="0" y="0"/>
              <a:ext cx="4000500" cy="381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1"/>
            <p:cNvSpPr txBox="1"/>
            <p:nvPr/>
          </p:nvSpPr>
          <p:spPr>
            <a:xfrm>
              <a:off x="238125" y="238125"/>
              <a:ext cx="35244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600">
                  <a:solidFill>
                    <a:srgbClr val="FFFFFF"/>
                  </a:solidFill>
                  <a:latin typeface="Arial"/>
                  <a:ea typeface="Arial"/>
                  <a:cs typeface="Arial"/>
                  <a:sym typeface="Arial"/>
                </a:rPr>
                <a:t>カード型 料金体系案内</a:t>
              </a:r>
              <a:endParaRPr b="1" sz="1600">
                <a:solidFill>
                  <a:srgbClr val="FFFFFF"/>
                </a:solidFill>
                <a:latin typeface="Arial"/>
                <a:ea typeface="Arial"/>
                <a:cs typeface="Arial"/>
                <a:sym typeface="Arial"/>
              </a:endParaRPr>
            </a:p>
            <a:p>
              <a:pPr indent="0" lvl="0" marL="0" rtl="0" algn="l">
                <a:spcBef>
                  <a:spcPts val="450"/>
                </a:spcBef>
                <a:spcAft>
                  <a:spcPts val="0"/>
                </a:spcAft>
                <a:buNone/>
              </a:pPr>
              <a:r>
                <a:rPr b="0" lang="ja" sz="1100">
                  <a:solidFill>
                    <a:srgbClr val="F8F6F0"/>
                  </a:solidFill>
                  <a:latin typeface="Noto Sans JP"/>
                  <a:ea typeface="Noto Sans JP"/>
                  <a:cs typeface="Noto Sans JP"/>
                  <a:sym typeface="Noto Sans JP"/>
                </a:rPr>
                <a:t>全年代に対応するクリアな設計</a:t>
              </a:r>
              <a:endParaRPr b="0" sz="1100">
                <a:solidFill>
                  <a:srgbClr val="F8F6F0"/>
                </a:solidFill>
                <a:latin typeface="Noto Sans JP"/>
                <a:ea typeface="Noto Sans JP"/>
                <a:cs typeface="Noto Sans JP"/>
                <a:sym typeface="Noto Sans JP"/>
              </a:endParaRPr>
            </a:p>
            <a:p>
              <a:pPr indent="-317500" lvl="0" marL="457200" rtl="0" algn="l">
                <a:spcBef>
                  <a:spcPts val="1200"/>
                </a:spcBef>
                <a:spcAft>
                  <a:spcPts val="0"/>
                </a:spcAft>
                <a:buSzPts val="1400"/>
                <a:buChar char="●"/>
              </a:pPr>
              <a:r>
                <a:rPr b="1" lang="ja" sz="1100">
                  <a:solidFill>
                    <a:srgbClr val="F8F6F0"/>
                  </a:solidFill>
                  <a:latin typeface="Noto Sans JP"/>
                  <a:ea typeface="Noto Sans JP"/>
                  <a:cs typeface="Noto Sans JP"/>
                  <a:sym typeface="Noto Sans JP"/>
                </a:rPr>
                <a:t>明快な比較構造：</a:t>
              </a:r>
              <a:br>
                <a:rPr b="0" lang="ja" sz="1100">
                  <a:solidFill>
                    <a:srgbClr val="FFFFFF"/>
                  </a:solidFill>
                  <a:latin typeface="Noto Sans JP"/>
                  <a:ea typeface="Noto Sans JP"/>
                  <a:cs typeface="Noto Sans JP"/>
                  <a:sym typeface="Noto Sans JP"/>
                </a:rPr>
              </a:br>
              <a:r>
                <a:rPr b="0" lang="ja" sz="1100">
                  <a:solidFill>
                    <a:srgbClr val="FFFFFF"/>
                  </a:solidFill>
                  <a:latin typeface="Noto Sans JP"/>
                  <a:ea typeface="Noto Sans JP"/>
                  <a:cs typeface="Noto Sans JP"/>
                  <a:sym typeface="Noto Sans JP"/>
                </a:rPr>
                <a:t>月謝制とチケット制の違い、入会金、体験レッスン費用を視覚的に整理。</a:t>
              </a:r>
              <a:endParaRPr b="0" sz="1100">
                <a:solidFill>
                  <a:srgbClr val="FFFFFF"/>
                </a:solidFill>
                <a:latin typeface="Noto Sans JP"/>
                <a:ea typeface="Noto Sans JP"/>
                <a:cs typeface="Noto Sans JP"/>
                <a:sym typeface="Noto Sans JP"/>
              </a:endParaRPr>
            </a:p>
            <a:p>
              <a:pPr indent="-317500" lvl="0" marL="457200" rtl="0" algn="l">
                <a:spcBef>
                  <a:spcPts val="900"/>
                </a:spcBef>
                <a:spcAft>
                  <a:spcPts val="0"/>
                </a:spcAft>
                <a:buSzPts val="1400"/>
                <a:buChar char="●"/>
              </a:pPr>
              <a:r>
                <a:rPr b="1" lang="ja" sz="1100">
                  <a:solidFill>
                    <a:srgbClr val="F8F6F0"/>
                  </a:solidFill>
                  <a:latin typeface="Noto Sans JP"/>
                  <a:ea typeface="Noto Sans JP"/>
                  <a:cs typeface="Noto Sans JP"/>
                  <a:sym typeface="Noto Sans JP"/>
                </a:rPr>
                <a:t>視認性の徹底追求：</a:t>
              </a:r>
              <a:br>
                <a:rPr b="0" lang="ja" sz="1100">
                  <a:solidFill>
                    <a:srgbClr val="FFFFFF"/>
                  </a:solidFill>
                  <a:latin typeface="Noto Sans JP"/>
                  <a:ea typeface="Noto Sans JP"/>
                  <a:cs typeface="Noto Sans JP"/>
                  <a:sym typeface="Noto Sans JP"/>
                </a:rPr>
              </a:br>
              <a:r>
                <a:rPr b="0" lang="ja" sz="1100">
                  <a:solidFill>
                    <a:srgbClr val="FFFFFF"/>
                  </a:solidFill>
                  <a:latin typeface="Noto Sans JP"/>
                  <a:ea typeface="Noto Sans JP"/>
                  <a:cs typeface="Noto Sans JP"/>
                  <a:sym typeface="Noto Sans JP"/>
                </a:rPr>
                <a:t>文字サイズとコントラストを最適化し、あらゆる年代にとって高い読解性を確保。</a:t>
              </a:r>
              <a:endParaRPr b="0" sz="1100">
                <a:solidFill>
                  <a:srgbClr val="FFFFFF"/>
                </a:solidFill>
                <a:latin typeface="Noto Sans JP"/>
                <a:ea typeface="Noto Sans JP"/>
                <a:cs typeface="Noto Sans JP"/>
                <a:sym typeface="Noto Sans JP"/>
              </a:endParaRPr>
            </a:p>
            <a:p>
              <a:pPr indent="-317500" lvl="0" marL="457200" rtl="0" algn="l">
                <a:spcBef>
                  <a:spcPts val="900"/>
                </a:spcBef>
                <a:spcAft>
                  <a:spcPts val="0"/>
                </a:spcAft>
                <a:buSzPts val="1400"/>
                <a:buChar char="●"/>
              </a:pPr>
              <a:r>
                <a:rPr b="1" lang="ja" sz="1100">
                  <a:solidFill>
                    <a:srgbClr val="F8F6F0"/>
                  </a:solidFill>
                  <a:latin typeface="Noto Sans JP"/>
                  <a:ea typeface="Noto Sans JP"/>
                  <a:cs typeface="Noto Sans JP"/>
                  <a:sym typeface="Noto Sans JP"/>
                </a:rPr>
                <a:t>誤解を防ぐ情報提供：</a:t>
              </a:r>
              <a:br>
                <a:rPr b="0" lang="ja" sz="1100">
                  <a:solidFill>
                    <a:srgbClr val="FFFFFF"/>
                  </a:solidFill>
                  <a:latin typeface="Noto Sans JP"/>
                  <a:ea typeface="Noto Sans JP"/>
                  <a:cs typeface="Noto Sans JP"/>
                  <a:sym typeface="Noto Sans JP"/>
                </a:rPr>
              </a:br>
              <a:r>
                <a:rPr b="0" lang="ja" sz="1100">
                  <a:solidFill>
                    <a:srgbClr val="FFFFFF"/>
                  </a:solidFill>
                  <a:latin typeface="Noto Sans JP"/>
                  <a:ea typeface="Noto Sans JP"/>
                  <a:cs typeface="Noto Sans JP"/>
                  <a:sym typeface="Noto Sans JP"/>
                </a:rPr>
                <a:t>料金トラブルを未然に防ぎ、受講生が安心して選択できる透明性を確立。</a:t>
              </a:r>
              <a:endParaRPr b="0" sz="1100">
                <a:solidFill>
                  <a:srgbClr val="FFFFFF"/>
                </a:solidFill>
                <a:latin typeface="Noto Sans JP"/>
                <a:ea typeface="Noto Sans JP"/>
                <a:cs typeface="Noto Sans JP"/>
                <a:sym typeface="Noto Sans JP"/>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2"/>
          <p:cNvSpPr/>
          <p:nvPr/>
        </p:nvSpPr>
        <p:spPr>
          <a:xfrm>
            <a:off x="0" y="0"/>
            <a:ext cx="9144000" cy="5143500"/>
          </a:xfrm>
          <a:prstGeom prst="rect">
            <a:avLst/>
          </a:prstGeom>
          <a:solidFill>
            <a:srgbClr val="F8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2" name="Google Shape;242;p22"/>
          <p:cNvGrpSpPr/>
          <p:nvPr/>
        </p:nvGrpSpPr>
        <p:grpSpPr>
          <a:xfrm>
            <a:off x="381000" y="266700"/>
            <a:ext cx="1905000" cy="324000"/>
            <a:chOff x="0" y="0"/>
            <a:chExt cx="1905000" cy="324000"/>
          </a:xfrm>
        </p:grpSpPr>
        <p:sp>
          <p:nvSpPr>
            <p:cNvPr id="243" name="Google Shape;243;p22"/>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Luna de Jerez</a:t>
              </a:r>
              <a:endParaRPr/>
            </a:p>
          </p:txBody>
        </p:sp>
        <p:sp>
          <p:nvSpPr>
            <p:cNvPr id="244" name="Google Shape;244;p22"/>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45" name="Google Shape;245;p22"/>
          <p:cNvGrpSpPr/>
          <p:nvPr/>
        </p:nvGrpSpPr>
        <p:grpSpPr>
          <a:xfrm>
            <a:off x="381000" y="714375"/>
            <a:ext cx="8382000" cy="19200"/>
            <a:chOff x="0" y="0"/>
            <a:chExt cx="8382000" cy="19200"/>
          </a:xfrm>
        </p:grpSpPr>
        <p:sp>
          <p:nvSpPr>
            <p:cNvPr id="246" name="Google Shape;246;p22"/>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22"/>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48" name="Google Shape;248;p22"/>
          <p:cNvSpPr txBox="1"/>
          <p:nvPr/>
        </p:nvSpPr>
        <p:spPr>
          <a:xfrm>
            <a:off x="381000" y="838200"/>
            <a:ext cx="8382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100">
                <a:solidFill>
                  <a:srgbClr val="8B0000"/>
                </a:solidFill>
                <a:latin typeface="Noto Sans JP"/>
                <a:ea typeface="Noto Sans JP"/>
                <a:cs typeface="Noto Sans JP"/>
                <a:sym typeface="Noto Sans JP"/>
              </a:rPr>
              <a:t>INFORMATION HUB &amp; COMMUNITY VISUALIZATION</a:t>
            </a:r>
            <a:endParaRPr b="0" sz="1100">
              <a:solidFill>
                <a:srgbClr val="8B0000"/>
              </a:solidFill>
              <a:latin typeface="Noto Sans JP"/>
              <a:ea typeface="Noto Sans JP"/>
              <a:cs typeface="Noto Sans JP"/>
              <a:sym typeface="Noto Sans JP"/>
            </a:endParaRPr>
          </a:p>
          <a:p>
            <a:pPr indent="0" lvl="0" marL="0" rtl="0" algn="l">
              <a:spcBef>
                <a:spcPts val="225"/>
              </a:spcBef>
              <a:spcAft>
                <a:spcPts val="0"/>
              </a:spcAft>
              <a:buNone/>
            </a:pPr>
            <a:r>
              <a:rPr b="1" lang="ja" sz="2000">
                <a:solidFill>
                  <a:srgbClr val="2C2C2C"/>
                </a:solidFill>
                <a:latin typeface="Arial"/>
                <a:ea typeface="Arial"/>
                <a:cs typeface="Arial"/>
                <a:sym typeface="Arial"/>
              </a:rPr>
              <a:t>スタジオの「今」をリアルタイムで届け、コミュニティの活気を可視化します。</a:t>
            </a:r>
            <a:endParaRPr b="1" sz="2000">
              <a:solidFill>
                <a:srgbClr val="2C2C2C"/>
              </a:solidFill>
              <a:latin typeface="Arial"/>
              <a:ea typeface="Arial"/>
              <a:cs typeface="Arial"/>
              <a:sym typeface="Arial"/>
            </a:endParaRPr>
          </a:p>
        </p:txBody>
      </p:sp>
      <p:grpSp>
        <p:nvGrpSpPr>
          <p:cNvPr id="249" name="Google Shape;249;p22"/>
          <p:cNvGrpSpPr/>
          <p:nvPr/>
        </p:nvGrpSpPr>
        <p:grpSpPr>
          <a:xfrm>
            <a:off x="381000" y="1571625"/>
            <a:ext cx="4000500" cy="3228975"/>
            <a:chOff x="0" y="0"/>
            <a:chExt cx="4000500" cy="3228975"/>
          </a:xfrm>
        </p:grpSpPr>
        <p:sp>
          <p:nvSpPr>
            <p:cNvPr id="250" name="Google Shape;250;p22"/>
            <p:cNvSpPr txBox="1"/>
            <p:nvPr/>
          </p:nvSpPr>
          <p:spPr>
            <a:xfrm>
              <a:off x="0" y="0"/>
              <a:ext cx="40005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050">
                  <a:solidFill>
                    <a:srgbClr val="2C2C2C"/>
                  </a:solidFill>
                  <a:latin typeface="Noto Sans JP"/>
                  <a:ea typeface="Noto Sans JP"/>
                  <a:cs typeface="Noto Sans JP"/>
                  <a:sym typeface="Noto Sans JP"/>
                </a:rPr>
                <a:t>お知らせ・最新情報ページは、スタジオのダイナミズムを伝えるハブとして機能します。日々の細かいアップデートや外部プラットフォームとの連携を強化し、運用側の負担を減らしつつ、常に新鮮な情報がサイト上に溢れる仕組みを構築します。</a:t>
              </a:r>
              <a:endParaRPr b="0" sz="1050">
                <a:solidFill>
                  <a:srgbClr val="2C2C2C"/>
                </a:solidFill>
                <a:latin typeface="Noto Sans JP"/>
                <a:ea typeface="Noto Sans JP"/>
                <a:cs typeface="Noto Sans JP"/>
                <a:sym typeface="Noto Sans JP"/>
              </a:endParaRPr>
            </a:p>
          </p:txBody>
        </p:sp>
        <p:grpSp>
          <p:nvGrpSpPr>
            <p:cNvPr id="251" name="Google Shape;251;p22"/>
            <p:cNvGrpSpPr/>
            <p:nvPr/>
          </p:nvGrpSpPr>
          <p:grpSpPr>
            <a:xfrm>
              <a:off x="0" y="714375"/>
              <a:ext cx="4000500" cy="876300"/>
              <a:chOff x="0" y="0"/>
              <a:chExt cx="4000500" cy="876300"/>
            </a:xfrm>
          </p:grpSpPr>
          <p:sp>
            <p:nvSpPr>
              <p:cNvPr id="252" name="Google Shape;252;p22"/>
              <p:cNvSpPr/>
              <p:nvPr/>
            </p:nvSpPr>
            <p:spPr>
              <a:xfrm>
                <a:off x="0" y="0"/>
                <a:ext cx="4000500" cy="876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2"/>
              <p:cNvSpPr/>
              <p:nvPr/>
            </p:nvSpPr>
            <p:spPr>
              <a:xfrm>
                <a:off x="0" y="0"/>
                <a:ext cx="28500" cy="8763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2"/>
              <p:cNvSpPr txBox="1"/>
              <p:nvPr/>
            </p:nvSpPr>
            <p:spPr>
              <a:xfrm>
                <a:off x="171450" y="114300"/>
                <a:ext cx="36957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105">
                    <a:solidFill>
                      <a:srgbClr val="2C2C2C"/>
                    </a:solidFill>
                    <a:latin typeface="Arial"/>
                    <a:ea typeface="Arial"/>
                    <a:cs typeface="Arial"/>
                    <a:sym typeface="Arial"/>
                  </a:rPr>
                  <a:t>Instagram API 連携</a:t>
                </a:r>
                <a:endParaRPr b="1" sz="1105">
                  <a:solidFill>
                    <a:srgbClr val="2C2C2C"/>
                  </a:solidFill>
                  <a:latin typeface="Arial"/>
                  <a:ea typeface="Arial"/>
                  <a:cs typeface="Arial"/>
                  <a:sym typeface="Arial"/>
                </a:endParaRPr>
              </a:p>
              <a:p>
                <a:pPr indent="0" lvl="0" marL="0" rtl="0" algn="l">
                  <a:spcBef>
                    <a:spcPts val="300"/>
                  </a:spcBef>
                  <a:spcAft>
                    <a:spcPts val="0"/>
                  </a:spcAft>
                  <a:buNone/>
                </a:pPr>
                <a:r>
                  <a:rPr b="0" lang="ja" sz="893">
                    <a:solidFill>
                      <a:srgbClr val="2C2C2C"/>
                    </a:solidFill>
                    <a:latin typeface="Noto Sans JP"/>
                    <a:ea typeface="Noto Sans JP"/>
                    <a:cs typeface="Noto Sans JP"/>
                    <a:sym typeface="Noto Sans JP"/>
                  </a:rPr>
                  <a:t>公式アカウントのフィードを自動的に美しいグリッド状で埋め込み、レッスン風景や衣装、ライブの様子などを視覚的に強力アピールします。</a:t>
                </a:r>
                <a:endParaRPr b="0" sz="893">
                  <a:solidFill>
                    <a:srgbClr val="2C2C2C"/>
                  </a:solidFill>
                  <a:latin typeface="Noto Sans JP"/>
                  <a:ea typeface="Noto Sans JP"/>
                  <a:cs typeface="Noto Sans JP"/>
                  <a:sym typeface="Noto Sans JP"/>
                </a:endParaRPr>
              </a:p>
            </p:txBody>
          </p:sp>
        </p:grpSp>
        <p:grpSp>
          <p:nvGrpSpPr>
            <p:cNvPr id="255" name="Google Shape;255;p22"/>
            <p:cNvGrpSpPr/>
            <p:nvPr/>
          </p:nvGrpSpPr>
          <p:grpSpPr>
            <a:xfrm>
              <a:off x="0" y="1685925"/>
              <a:ext cx="4000500" cy="876300"/>
              <a:chOff x="0" y="0"/>
              <a:chExt cx="4000500" cy="876300"/>
            </a:xfrm>
          </p:grpSpPr>
          <p:sp>
            <p:nvSpPr>
              <p:cNvPr id="256" name="Google Shape;256;p22"/>
              <p:cNvSpPr/>
              <p:nvPr/>
            </p:nvSpPr>
            <p:spPr>
              <a:xfrm>
                <a:off x="0" y="0"/>
                <a:ext cx="4000500" cy="876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2"/>
              <p:cNvSpPr/>
              <p:nvPr/>
            </p:nvSpPr>
            <p:spPr>
              <a:xfrm>
                <a:off x="0" y="0"/>
                <a:ext cx="28500" cy="8763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22"/>
              <p:cNvSpPr txBox="1"/>
              <p:nvPr/>
            </p:nvSpPr>
            <p:spPr>
              <a:xfrm>
                <a:off x="171450" y="114300"/>
                <a:ext cx="36957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300">
                    <a:solidFill>
                      <a:srgbClr val="2C2C2C"/>
                    </a:solidFill>
                    <a:latin typeface="Arial"/>
                    <a:ea typeface="Arial"/>
                    <a:cs typeface="Arial"/>
                    <a:sym typeface="Arial"/>
                  </a:rPr>
                  <a:t>口コミサイト「エキテン」連携</a:t>
                </a:r>
                <a:endParaRPr b="1" sz="1300">
                  <a:solidFill>
                    <a:srgbClr val="2C2C2C"/>
                  </a:solidFill>
                  <a:latin typeface="Arial"/>
                  <a:ea typeface="Arial"/>
                  <a:cs typeface="Arial"/>
                  <a:sym typeface="Arial"/>
                </a:endParaRPr>
              </a:p>
              <a:p>
                <a:pPr indent="0" lvl="0" marL="0" rtl="0" algn="l">
                  <a:spcBef>
                    <a:spcPts val="300"/>
                  </a:spcBef>
                  <a:spcAft>
                    <a:spcPts val="0"/>
                  </a:spcAft>
                  <a:buNone/>
                </a:pPr>
                <a:r>
                  <a:rPr b="0" lang="ja" sz="1050">
                    <a:solidFill>
                      <a:srgbClr val="2C2C2C"/>
                    </a:solidFill>
                    <a:latin typeface="Noto Sans JP"/>
                    <a:ea typeface="Noto Sans JP"/>
                    <a:cs typeface="Noto Sans JP"/>
                    <a:sym typeface="Noto Sans JP"/>
                  </a:rPr>
                  <a:t>生徒様からのリアルな喜びの声や評価をシームレスに表示し、コミュニティの活気と信頼性を可視化します。</a:t>
                </a:r>
                <a:endParaRPr b="0" sz="1050">
                  <a:solidFill>
                    <a:srgbClr val="2C2C2C"/>
                  </a:solidFill>
                  <a:latin typeface="Noto Sans JP"/>
                  <a:ea typeface="Noto Sans JP"/>
                  <a:cs typeface="Noto Sans JP"/>
                  <a:sym typeface="Noto Sans JP"/>
                </a:endParaRPr>
              </a:p>
            </p:txBody>
          </p:sp>
        </p:grpSp>
        <p:grpSp>
          <p:nvGrpSpPr>
            <p:cNvPr id="259" name="Google Shape;259;p22"/>
            <p:cNvGrpSpPr/>
            <p:nvPr/>
          </p:nvGrpSpPr>
          <p:grpSpPr>
            <a:xfrm>
              <a:off x="0" y="2657475"/>
              <a:ext cx="4000500" cy="571500"/>
              <a:chOff x="0" y="0"/>
              <a:chExt cx="4000500" cy="571500"/>
            </a:xfrm>
          </p:grpSpPr>
          <p:sp>
            <p:nvSpPr>
              <p:cNvPr id="260" name="Google Shape;260;p22"/>
              <p:cNvSpPr/>
              <p:nvPr/>
            </p:nvSpPr>
            <p:spPr>
              <a:xfrm>
                <a:off x="0" y="0"/>
                <a:ext cx="4000500" cy="5715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2"/>
              <p:cNvSpPr/>
              <p:nvPr/>
            </p:nvSpPr>
            <p:spPr>
              <a:xfrm>
                <a:off x="0" y="0"/>
                <a:ext cx="4000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22"/>
              <p:cNvSpPr txBox="1"/>
              <p:nvPr/>
            </p:nvSpPr>
            <p:spPr>
              <a:xfrm>
                <a:off x="171450" y="76200"/>
                <a:ext cx="3695700" cy="4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930">
                    <a:solidFill>
                      <a:srgbClr val="8B0000"/>
                    </a:solidFill>
                    <a:latin typeface="Arial"/>
                    <a:ea typeface="Arial"/>
                    <a:cs typeface="Arial"/>
                    <a:sym typeface="Arial"/>
                  </a:rPr>
                  <a:t>重要なお知らせのハイライト表示</a:t>
                </a:r>
                <a:endParaRPr b="1" sz="930">
                  <a:solidFill>
                    <a:srgbClr val="8B0000"/>
                  </a:solidFill>
                  <a:latin typeface="Arial"/>
                  <a:ea typeface="Arial"/>
                  <a:cs typeface="Arial"/>
                  <a:sym typeface="Arial"/>
                </a:endParaRPr>
              </a:p>
              <a:p>
                <a:pPr indent="0" lvl="0" marL="0" rtl="0" algn="l">
                  <a:spcBef>
                    <a:spcPts val="150"/>
                  </a:spcBef>
                  <a:spcAft>
                    <a:spcPts val="0"/>
                  </a:spcAft>
                  <a:buNone/>
                </a:pPr>
                <a:r>
                  <a:rPr b="0" lang="ja" sz="814">
                    <a:solidFill>
                      <a:srgbClr val="2C2C2C"/>
                    </a:solidFill>
                    <a:latin typeface="Noto Sans JP"/>
                    <a:ea typeface="Noto Sans JP"/>
                    <a:cs typeface="Noto Sans JP"/>
                    <a:sym typeface="Noto Sans JP"/>
                  </a:rPr>
                  <a:t>特別講師ワークショップや発表会は専用アイキャッチ画像を用いたバナー形式で強調し、見落としを防ぎます。</a:t>
                </a:r>
                <a:endParaRPr b="0" sz="814">
                  <a:solidFill>
                    <a:srgbClr val="2C2C2C"/>
                  </a:solidFill>
                  <a:latin typeface="Noto Sans JP"/>
                  <a:ea typeface="Noto Sans JP"/>
                  <a:cs typeface="Noto Sans JP"/>
                  <a:sym typeface="Noto Sans JP"/>
                </a:endParaRPr>
              </a:p>
            </p:txBody>
          </p:sp>
        </p:grpSp>
      </p:grpSp>
      <p:grpSp>
        <p:nvGrpSpPr>
          <p:cNvPr id="263" name="Google Shape;263;p22"/>
          <p:cNvGrpSpPr/>
          <p:nvPr/>
        </p:nvGrpSpPr>
        <p:grpSpPr>
          <a:xfrm>
            <a:off x="4572000" y="1571625"/>
            <a:ext cx="4191000" cy="3224288"/>
            <a:chOff x="0" y="0"/>
            <a:chExt cx="4191000" cy="3224288"/>
          </a:xfrm>
        </p:grpSpPr>
        <p:pic>
          <p:nvPicPr>
            <p:cNvPr id="264" name="Google Shape;264;p22"/>
            <p:cNvPicPr preferRelativeResize="0"/>
            <p:nvPr/>
          </p:nvPicPr>
          <p:blipFill rotWithShape="1">
            <a:blip r:embed="rId3">
              <a:alphaModFix/>
            </a:blip>
            <a:srcRect b="0" l="0" r="0" t="0"/>
            <a:stretch/>
          </p:blipFill>
          <p:spPr>
            <a:xfrm>
              <a:off x="0" y="0"/>
              <a:ext cx="4191000" cy="2357400"/>
            </a:xfrm>
            <a:prstGeom prst="rect">
              <a:avLst/>
            </a:prstGeom>
            <a:noFill/>
            <a:ln>
              <a:noFill/>
            </a:ln>
          </p:spPr>
        </p:pic>
        <p:grpSp>
          <p:nvGrpSpPr>
            <p:cNvPr id="265" name="Google Shape;265;p22"/>
            <p:cNvGrpSpPr/>
            <p:nvPr/>
          </p:nvGrpSpPr>
          <p:grpSpPr>
            <a:xfrm>
              <a:off x="0" y="2452688"/>
              <a:ext cx="4191000" cy="771600"/>
              <a:chOff x="0" y="0"/>
              <a:chExt cx="4191000" cy="771600"/>
            </a:xfrm>
          </p:grpSpPr>
          <p:sp>
            <p:nvSpPr>
              <p:cNvPr id="266" name="Google Shape;266;p22"/>
              <p:cNvSpPr/>
              <p:nvPr/>
            </p:nvSpPr>
            <p:spPr>
              <a:xfrm>
                <a:off x="0" y="0"/>
                <a:ext cx="4191000" cy="7716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22"/>
              <p:cNvSpPr txBox="1"/>
              <p:nvPr/>
            </p:nvSpPr>
            <p:spPr>
              <a:xfrm>
                <a:off x="190500" y="133350"/>
                <a:ext cx="3810000" cy="50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000">
                    <a:solidFill>
                      <a:srgbClr val="8B0000"/>
                    </a:solidFill>
                    <a:latin typeface="Noto Sans JP"/>
                    <a:ea typeface="Noto Sans JP"/>
                    <a:cs typeface="Noto Sans JP"/>
                    <a:sym typeface="Noto Sans JP"/>
                  </a:rPr>
                  <a:t>LIVE FEED MOCKUP</a:t>
                </a:r>
                <a:endParaRPr b="0" sz="1000">
                  <a:solidFill>
                    <a:srgbClr val="8B0000"/>
                  </a:solidFill>
                  <a:latin typeface="Noto Sans JP"/>
                  <a:ea typeface="Noto Sans JP"/>
                  <a:cs typeface="Noto Sans JP"/>
                  <a:sym typeface="Noto Sans JP"/>
                </a:endParaRPr>
              </a:p>
              <a:p>
                <a:pPr indent="0" lvl="0" marL="0" rtl="0" algn="l">
                  <a:spcBef>
                    <a:spcPts val="300"/>
                  </a:spcBef>
                  <a:spcAft>
                    <a:spcPts val="0"/>
                  </a:spcAft>
                  <a:buNone/>
                </a:pPr>
                <a:r>
                  <a:rPr b="0" lang="ja" sz="1000">
                    <a:solidFill>
                      <a:srgbClr val="666666"/>
                    </a:solidFill>
                    <a:latin typeface="Noto Sans JP"/>
                    <a:ea typeface="Noto Sans JP"/>
                    <a:cs typeface="Noto Sans JP"/>
                    <a:sym typeface="Noto Sans JP"/>
                  </a:rPr>
                  <a:t>SNS経由で常に最新のスタジオ風景が自動更新され、訪れるユーザーにリアルタイムの熱量と魅力をダイレクトに届けます。</a:t>
                </a:r>
                <a:endParaRPr b="0" sz="1000">
                  <a:solidFill>
                    <a:srgbClr val="666666"/>
                  </a:solidFill>
                  <a:latin typeface="Noto Sans JP"/>
                  <a:ea typeface="Noto Sans JP"/>
                  <a:cs typeface="Noto Sans JP"/>
                  <a:sym typeface="Noto Sans JP"/>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271" name="Shape 271"/>
        <p:cNvGrpSpPr/>
        <p:nvPr/>
      </p:nvGrpSpPr>
      <p:grpSpPr>
        <a:xfrm>
          <a:off x="0" y="0"/>
          <a:ext cx="0" cy="0"/>
          <a:chOff x="0" y="0"/>
          <a:chExt cx="0" cy="0"/>
        </a:xfrm>
      </p:grpSpPr>
      <p:grpSp>
        <p:nvGrpSpPr>
          <p:cNvPr id="272" name="Google Shape;272;p23"/>
          <p:cNvGrpSpPr/>
          <p:nvPr/>
        </p:nvGrpSpPr>
        <p:grpSpPr>
          <a:xfrm>
            <a:off x="381000" y="285750"/>
            <a:ext cx="1905000" cy="324000"/>
            <a:chOff x="0" y="0"/>
            <a:chExt cx="1905000" cy="324000"/>
          </a:xfrm>
        </p:grpSpPr>
        <p:sp>
          <p:nvSpPr>
            <p:cNvPr id="273" name="Google Shape;273;p23"/>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Luna de Jerez</a:t>
              </a:r>
              <a:endParaRPr/>
            </a:p>
          </p:txBody>
        </p:sp>
        <p:sp>
          <p:nvSpPr>
            <p:cNvPr id="274" name="Google Shape;274;p23"/>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75" name="Google Shape;275;p23"/>
          <p:cNvGrpSpPr/>
          <p:nvPr/>
        </p:nvGrpSpPr>
        <p:grpSpPr>
          <a:xfrm>
            <a:off x="381000" y="714375"/>
            <a:ext cx="8382000" cy="19200"/>
            <a:chOff x="0" y="0"/>
            <a:chExt cx="8382000" cy="19200"/>
          </a:xfrm>
        </p:grpSpPr>
        <p:sp>
          <p:nvSpPr>
            <p:cNvPr id="276" name="Google Shape;276;p23"/>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3"/>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78" name="Google Shape;278;p23"/>
          <p:cNvSpPr txBox="1"/>
          <p:nvPr/>
        </p:nvSpPr>
        <p:spPr>
          <a:xfrm>
            <a:off x="381000" y="904875"/>
            <a:ext cx="8382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935">
                <a:solidFill>
                  <a:srgbClr val="8B0000"/>
                </a:solidFill>
                <a:latin typeface="Noto Sans JP"/>
                <a:ea typeface="Noto Sans JP"/>
                <a:cs typeface="Noto Sans JP"/>
                <a:sym typeface="Noto Sans JP"/>
              </a:rPr>
              <a:t>BLOG INTEGRATION &amp; ARCHIVE SYSTEM</a:t>
            </a:r>
            <a:endParaRPr b="0" sz="935">
              <a:solidFill>
                <a:srgbClr val="8B0000"/>
              </a:solidFill>
              <a:latin typeface="Noto Sans JP"/>
              <a:ea typeface="Noto Sans JP"/>
              <a:cs typeface="Noto Sans JP"/>
              <a:sym typeface="Noto Sans JP"/>
            </a:endParaRPr>
          </a:p>
          <a:p>
            <a:pPr indent="0" lvl="0" marL="0" rtl="0" algn="l">
              <a:spcBef>
                <a:spcPts val="300"/>
              </a:spcBef>
              <a:spcAft>
                <a:spcPts val="0"/>
              </a:spcAft>
              <a:buNone/>
            </a:pPr>
            <a:r>
              <a:rPr b="1" lang="ja" sz="1700">
                <a:solidFill>
                  <a:srgbClr val="2C2C2C"/>
                </a:solidFill>
                <a:latin typeface="Arial"/>
                <a:ea typeface="Arial"/>
                <a:cs typeface="Arial"/>
                <a:sym typeface="Arial"/>
              </a:rPr>
              <a:t>過去の貴重なブログ資産を活かしつつ、新サイトのデザインに完全に調和させます。</a:t>
            </a:r>
            <a:endParaRPr b="1" sz="1700">
              <a:solidFill>
                <a:srgbClr val="2C2C2C"/>
              </a:solidFill>
              <a:latin typeface="Arial"/>
              <a:ea typeface="Arial"/>
              <a:cs typeface="Arial"/>
              <a:sym typeface="Arial"/>
            </a:endParaRPr>
          </a:p>
        </p:txBody>
      </p:sp>
      <p:grpSp>
        <p:nvGrpSpPr>
          <p:cNvPr id="279" name="Google Shape;279;p23"/>
          <p:cNvGrpSpPr/>
          <p:nvPr/>
        </p:nvGrpSpPr>
        <p:grpSpPr>
          <a:xfrm>
            <a:off x="381000" y="1666875"/>
            <a:ext cx="3619500" cy="3095700"/>
            <a:chOff x="0" y="0"/>
            <a:chExt cx="3619500" cy="3095700"/>
          </a:xfrm>
        </p:grpSpPr>
        <p:sp>
          <p:nvSpPr>
            <p:cNvPr id="280" name="Google Shape;280;p23"/>
            <p:cNvSpPr/>
            <p:nvPr/>
          </p:nvSpPr>
          <p:spPr>
            <a:xfrm>
              <a:off x="0" y="0"/>
              <a:ext cx="3619500" cy="30957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23"/>
            <p:cNvSpPr/>
            <p:nvPr/>
          </p:nvSpPr>
          <p:spPr>
            <a:xfrm>
              <a:off x="0" y="0"/>
              <a:ext cx="3619500" cy="285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3"/>
            <p:cNvSpPr txBox="1"/>
            <p:nvPr/>
          </p:nvSpPr>
          <p:spPr>
            <a:xfrm>
              <a:off x="238125" y="238125"/>
              <a:ext cx="3143400" cy="26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400">
                  <a:solidFill>
                    <a:srgbClr val="8B0000"/>
                  </a:solidFill>
                  <a:latin typeface="Arial"/>
                  <a:ea typeface="Arial"/>
                  <a:cs typeface="Arial"/>
                  <a:sym typeface="Arial"/>
                </a:rPr>
                <a:t>歴史と日常を伝えるブログ統合</a:t>
              </a:r>
              <a:endParaRPr b="1" sz="1400">
                <a:solidFill>
                  <a:srgbClr val="8B0000"/>
                </a:solidFill>
                <a:latin typeface="Arial"/>
                <a:ea typeface="Arial"/>
                <a:cs typeface="Arial"/>
                <a:sym typeface="Arial"/>
              </a:endParaRPr>
            </a:p>
            <a:p>
              <a:pPr indent="0" lvl="0" marL="0" rtl="0" algn="l">
                <a:spcBef>
                  <a:spcPts val="900"/>
                </a:spcBef>
                <a:spcAft>
                  <a:spcPts val="0"/>
                </a:spcAft>
                <a:buNone/>
              </a:pPr>
              <a:r>
                <a:rPr b="0" lang="ja" sz="1100">
                  <a:solidFill>
                    <a:srgbClr val="2C2C2C"/>
                  </a:solidFill>
                  <a:latin typeface="Noto Sans JP"/>
                  <a:ea typeface="Noto Sans JP"/>
                  <a:cs typeface="Noto Sans JP"/>
                  <a:sym typeface="Noto Sans JP"/>
                </a:rPr>
                <a:t>これまで「ココログ」で長年綴られてきたブログコンテンツは、スタジオの歴史と日常を伝える貴重な資産です。</a:t>
              </a:r>
              <a:endParaRPr b="0" sz="1100">
                <a:solidFill>
                  <a:srgbClr val="2C2C2C"/>
                </a:solidFill>
                <a:latin typeface="Noto Sans JP"/>
                <a:ea typeface="Noto Sans JP"/>
                <a:cs typeface="Noto Sans JP"/>
                <a:sym typeface="Noto Sans JP"/>
              </a:endParaRPr>
            </a:p>
            <a:p>
              <a:pPr indent="0" lvl="0" marL="0" rtl="0" algn="l">
                <a:spcBef>
                  <a:spcPts val="1200"/>
                </a:spcBef>
                <a:spcAft>
                  <a:spcPts val="0"/>
                </a:spcAft>
                <a:buNone/>
              </a:pPr>
              <a:r>
                <a:rPr b="0" lang="ja" sz="1100">
                  <a:solidFill>
                    <a:srgbClr val="2C2C2C"/>
                  </a:solidFill>
                  <a:latin typeface="Noto Sans JP"/>
                  <a:ea typeface="Noto Sans JP"/>
                  <a:cs typeface="Noto Sans JP"/>
                  <a:sym typeface="Noto Sans JP"/>
                </a:rPr>
                <a:t>今回のリニューアルでは、このブログコンテンツを新しいWEBサイトのデザインシステムに統合し、エレガントな世界観を損なうことなくシームレスに閲覧できる環境を整えます。</a:t>
              </a:r>
              <a:endParaRPr b="0" sz="1100">
                <a:solidFill>
                  <a:srgbClr val="2C2C2C"/>
                </a:solidFill>
                <a:latin typeface="Noto Sans JP"/>
                <a:ea typeface="Noto Sans JP"/>
                <a:cs typeface="Noto Sans JP"/>
                <a:sym typeface="Noto Sans JP"/>
              </a:endParaRPr>
            </a:p>
            <a:p>
              <a:pPr indent="0" lvl="0" marL="0" rtl="0" algn="l">
                <a:spcBef>
                  <a:spcPts val="1200"/>
                </a:spcBef>
                <a:spcAft>
                  <a:spcPts val="0"/>
                </a:spcAft>
                <a:buNone/>
              </a:pPr>
              <a:r>
                <a:rPr b="0" lang="ja" sz="950">
                  <a:solidFill>
                    <a:srgbClr val="666666"/>
                  </a:solidFill>
                  <a:highlight>
                    <a:srgbClr val="F8F6F0"/>
                  </a:highlight>
                  <a:latin typeface="Noto Sans JP"/>
                  <a:ea typeface="Noto Sans JP"/>
                  <a:cs typeface="Noto Sans JP"/>
                  <a:sym typeface="Noto Sans JP"/>
                </a:rPr>
                <a:t>雑誌のコラムを読むような洗練された読書体験と、過去の膨大なアーカイブへ簡単にアクセスできる構造を実現。</a:t>
              </a:r>
              <a:endParaRPr b="0" sz="950">
                <a:solidFill>
                  <a:srgbClr val="666666"/>
                </a:solidFill>
                <a:highlight>
                  <a:srgbClr val="F8F6F0"/>
                </a:highlight>
                <a:latin typeface="Noto Sans JP"/>
                <a:ea typeface="Noto Sans JP"/>
                <a:cs typeface="Noto Sans JP"/>
                <a:sym typeface="Noto Sans JP"/>
              </a:endParaRPr>
            </a:p>
          </p:txBody>
        </p:sp>
      </p:grpSp>
      <p:grpSp>
        <p:nvGrpSpPr>
          <p:cNvPr id="283" name="Google Shape;283;p23"/>
          <p:cNvGrpSpPr/>
          <p:nvPr/>
        </p:nvGrpSpPr>
        <p:grpSpPr>
          <a:xfrm>
            <a:off x="4191000" y="1666875"/>
            <a:ext cx="4572000" cy="3095550"/>
            <a:chOff x="0" y="0"/>
            <a:chExt cx="4572000" cy="3095550"/>
          </a:xfrm>
        </p:grpSpPr>
        <p:grpSp>
          <p:nvGrpSpPr>
            <p:cNvPr id="284" name="Google Shape;284;p23"/>
            <p:cNvGrpSpPr/>
            <p:nvPr/>
          </p:nvGrpSpPr>
          <p:grpSpPr>
            <a:xfrm>
              <a:off x="0" y="0"/>
              <a:ext cx="4572000" cy="619200"/>
              <a:chOff x="0" y="0"/>
              <a:chExt cx="4572000" cy="619200"/>
            </a:xfrm>
          </p:grpSpPr>
          <p:sp>
            <p:nvSpPr>
              <p:cNvPr id="285" name="Google Shape;285;p23"/>
              <p:cNvSpPr/>
              <p:nvPr/>
            </p:nvSpPr>
            <p:spPr>
              <a:xfrm>
                <a:off x="0" y="0"/>
                <a:ext cx="4572000" cy="6192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23"/>
              <p:cNvSpPr/>
              <p:nvPr/>
            </p:nvSpPr>
            <p:spPr>
              <a:xfrm>
                <a:off x="0" y="0"/>
                <a:ext cx="28500" cy="619200"/>
              </a:xfrm>
              <a:prstGeom prst="rect">
                <a:avLst/>
              </a:prstGeom>
              <a:solidFill>
                <a:srgbClr val="2C2C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3"/>
              <p:cNvSpPr txBox="1"/>
              <p:nvPr/>
            </p:nvSpPr>
            <p:spPr>
              <a:xfrm>
                <a:off x="190500" y="95250"/>
                <a:ext cx="4191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893">
                    <a:solidFill>
                      <a:srgbClr val="8B0000"/>
                    </a:solidFill>
                    <a:latin typeface="Noto Sans JP"/>
                    <a:ea typeface="Noto Sans JP"/>
                    <a:cs typeface="Noto Sans JP"/>
                    <a:sym typeface="Noto Sans JP"/>
                  </a:rPr>
                  <a:t>1. システム移行 &amp; デザイン統一</a:t>
                </a:r>
                <a:endParaRPr b="1" sz="893">
                  <a:solidFill>
                    <a:srgbClr val="8B0000"/>
                  </a:solidFill>
                  <a:latin typeface="Noto Sans JP"/>
                  <a:ea typeface="Noto Sans JP"/>
                  <a:cs typeface="Noto Sans JP"/>
                  <a:sym typeface="Noto Sans JP"/>
                </a:endParaRPr>
              </a:p>
              <a:p>
                <a:pPr indent="0" lvl="0" marL="0" rtl="0" algn="l">
                  <a:spcBef>
                    <a:spcPts val="300"/>
                  </a:spcBef>
                  <a:spcAft>
                    <a:spcPts val="0"/>
                  </a:spcAft>
                  <a:buNone/>
                </a:pPr>
                <a:r>
                  <a:rPr b="0" lang="ja" sz="808">
                    <a:solidFill>
                      <a:srgbClr val="666666"/>
                    </a:solidFill>
                    <a:latin typeface="Noto Sans JP"/>
                    <a:ea typeface="Noto Sans JP"/>
                    <a:cs typeface="Noto Sans JP"/>
                    <a:sym typeface="Noto Sans JP"/>
                  </a:rPr>
                  <a:t>過去の重要な記事を新CMSに移行、またはRSSを活用して共通デザインで読み込みます。</a:t>
                </a:r>
                <a:endParaRPr b="0" sz="808">
                  <a:solidFill>
                    <a:srgbClr val="666666"/>
                  </a:solidFill>
                  <a:latin typeface="Noto Sans JP"/>
                  <a:ea typeface="Noto Sans JP"/>
                  <a:cs typeface="Noto Sans JP"/>
                  <a:sym typeface="Noto Sans JP"/>
                </a:endParaRPr>
              </a:p>
            </p:txBody>
          </p:sp>
        </p:grpSp>
        <p:grpSp>
          <p:nvGrpSpPr>
            <p:cNvPr id="288" name="Google Shape;288;p23"/>
            <p:cNvGrpSpPr/>
            <p:nvPr/>
          </p:nvGrpSpPr>
          <p:grpSpPr>
            <a:xfrm>
              <a:off x="0" y="742950"/>
              <a:ext cx="4572000" cy="1447800"/>
              <a:chOff x="0" y="0"/>
              <a:chExt cx="4572000" cy="1447800"/>
            </a:xfrm>
          </p:grpSpPr>
          <p:sp>
            <p:nvSpPr>
              <p:cNvPr id="289" name="Google Shape;289;p23"/>
              <p:cNvSpPr/>
              <p:nvPr/>
            </p:nvSpPr>
            <p:spPr>
              <a:xfrm>
                <a:off x="0" y="0"/>
                <a:ext cx="4572000" cy="14478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23"/>
              <p:cNvSpPr/>
              <p:nvPr/>
            </p:nvSpPr>
            <p:spPr>
              <a:xfrm>
                <a:off x="0" y="0"/>
                <a:ext cx="457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1" name="Google Shape;291;p23"/>
              <p:cNvGrpSpPr/>
              <p:nvPr/>
            </p:nvGrpSpPr>
            <p:grpSpPr>
              <a:xfrm>
                <a:off x="152400" y="152400"/>
                <a:ext cx="4286175" cy="1143000"/>
                <a:chOff x="0" y="0"/>
                <a:chExt cx="4286175" cy="1143000"/>
              </a:xfrm>
            </p:grpSpPr>
            <p:pic>
              <p:nvPicPr>
                <p:cNvPr id="292" name="Google Shape;292;p23"/>
                <p:cNvPicPr preferRelativeResize="0"/>
                <p:nvPr/>
              </p:nvPicPr>
              <p:blipFill rotWithShape="1">
                <a:blip r:embed="rId3">
                  <a:alphaModFix/>
                </a:blip>
                <a:srcRect b="0" l="0" r="0" t="0"/>
                <a:stretch/>
              </p:blipFill>
              <p:spPr>
                <a:xfrm>
                  <a:off x="0" y="0"/>
                  <a:ext cx="1524000" cy="1143000"/>
                </a:xfrm>
                <a:prstGeom prst="rect">
                  <a:avLst/>
                </a:prstGeom>
                <a:noFill/>
                <a:ln>
                  <a:noFill/>
                </a:ln>
              </p:spPr>
            </p:pic>
            <p:sp>
              <p:nvSpPr>
                <p:cNvPr id="293" name="Google Shape;293;p23"/>
                <p:cNvSpPr txBox="1"/>
                <p:nvPr/>
              </p:nvSpPr>
              <p:spPr>
                <a:xfrm>
                  <a:off x="1666875" y="0"/>
                  <a:ext cx="26193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850">
                      <a:solidFill>
                        <a:srgbClr val="8B0000"/>
                      </a:solidFill>
                      <a:latin typeface="Noto Sans JP"/>
                      <a:ea typeface="Noto Sans JP"/>
                      <a:cs typeface="Noto Sans JP"/>
                      <a:sym typeface="Noto Sans JP"/>
                    </a:rPr>
                    <a:t>2026.10.08 | </a:t>
                  </a:r>
                  <a:r>
                    <a:rPr b="0" lang="ja" sz="800">
                      <a:solidFill>
                        <a:srgbClr val="8B0000"/>
                      </a:solidFill>
                      <a:highlight>
                        <a:srgbClr val="EBE7E0"/>
                      </a:highlight>
                      <a:latin typeface="Noto Sans JP"/>
                      <a:ea typeface="Noto Sans JP"/>
                      <a:cs typeface="Noto Sans JP"/>
                      <a:sym typeface="Noto Sans JP"/>
                    </a:rPr>
                    <a:t>フラメンコの豆知識</a:t>
                  </a:r>
                  <a:endParaRPr b="0" sz="850">
                    <a:solidFill>
                      <a:srgbClr val="8B0000"/>
                    </a:solidFill>
                    <a:latin typeface="Noto Sans JP"/>
                    <a:ea typeface="Noto Sans JP"/>
                    <a:cs typeface="Noto Sans JP"/>
                    <a:sym typeface="Noto Sans JP"/>
                  </a:endParaRPr>
                </a:p>
                <a:p>
                  <a:pPr indent="0" lvl="0" marL="0" rtl="0" algn="l">
                    <a:spcBef>
                      <a:spcPts val="450"/>
                    </a:spcBef>
                    <a:spcAft>
                      <a:spcPts val="0"/>
                    </a:spcAft>
                    <a:buNone/>
                  </a:pPr>
                  <a:r>
                    <a:rPr b="1" lang="ja" sz="1200">
                      <a:solidFill>
                        <a:srgbClr val="2C2C2C"/>
                      </a:solidFill>
                      <a:latin typeface="Arial"/>
                      <a:ea typeface="Arial"/>
                      <a:cs typeface="Arial"/>
                      <a:sym typeface="Arial"/>
                    </a:rPr>
                    <a:t>The Flamenco Legacy: A Journey Through Spanish Culture</a:t>
                  </a:r>
                  <a:endParaRPr b="1" sz="1200">
                    <a:solidFill>
                      <a:srgbClr val="2C2C2C"/>
                    </a:solidFill>
                    <a:latin typeface="Arial"/>
                    <a:ea typeface="Arial"/>
                    <a:cs typeface="Arial"/>
                    <a:sym typeface="Arial"/>
                  </a:endParaRPr>
                </a:p>
                <a:p>
                  <a:pPr indent="0" lvl="0" marL="0" rtl="0" algn="l">
                    <a:spcBef>
                      <a:spcPts val="600"/>
                    </a:spcBef>
                    <a:spcAft>
                      <a:spcPts val="0"/>
                    </a:spcAft>
                    <a:buNone/>
                  </a:pPr>
                  <a:r>
                    <a:rPr b="0" lang="ja" sz="900">
                      <a:solidFill>
                        <a:srgbClr val="666666"/>
                      </a:solidFill>
                      <a:latin typeface="Noto Sans JP"/>
                      <a:ea typeface="Noto Sans JP"/>
                      <a:cs typeface="Noto Sans JP"/>
                      <a:sym typeface="Noto Sans JP"/>
                    </a:rPr>
                    <a:t>一覧ページはアイキャッチ画像とタイトルの抜粋が並ぶモダンなカード型レイアウトを採用...</a:t>
                  </a:r>
                  <a:endParaRPr b="0" sz="900">
                    <a:solidFill>
                      <a:srgbClr val="666666"/>
                    </a:solidFill>
                    <a:latin typeface="Noto Sans JP"/>
                    <a:ea typeface="Noto Sans JP"/>
                    <a:cs typeface="Noto Sans JP"/>
                    <a:sym typeface="Noto Sans JP"/>
                  </a:endParaRPr>
                </a:p>
              </p:txBody>
            </p:sp>
          </p:grpSp>
        </p:grpSp>
        <p:grpSp>
          <p:nvGrpSpPr>
            <p:cNvPr id="294" name="Google Shape;294;p23"/>
            <p:cNvGrpSpPr/>
            <p:nvPr/>
          </p:nvGrpSpPr>
          <p:grpSpPr>
            <a:xfrm>
              <a:off x="0" y="2305050"/>
              <a:ext cx="4572000" cy="790500"/>
              <a:chOff x="0" y="0"/>
              <a:chExt cx="4572000" cy="790500"/>
            </a:xfrm>
          </p:grpSpPr>
          <p:sp>
            <p:nvSpPr>
              <p:cNvPr id="295" name="Google Shape;295;p23"/>
              <p:cNvSpPr/>
              <p:nvPr/>
            </p:nvSpPr>
            <p:spPr>
              <a:xfrm>
                <a:off x="0" y="0"/>
                <a:ext cx="4572000" cy="790500"/>
              </a:xfrm>
              <a:prstGeom prst="rect">
                <a:avLst/>
              </a:prstGeom>
              <a:solidFill>
                <a:srgbClr val="2C2C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23"/>
              <p:cNvSpPr txBox="1"/>
              <p:nvPr/>
            </p:nvSpPr>
            <p:spPr>
              <a:xfrm>
                <a:off x="190500" y="114300"/>
                <a:ext cx="419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775">
                    <a:solidFill>
                      <a:srgbClr val="F8F6F0"/>
                    </a:solidFill>
                    <a:latin typeface="Noto Sans JP"/>
                    <a:ea typeface="Noto Sans JP"/>
                    <a:cs typeface="Noto Sans JP"/>
                    <a:sym typeface="Noto Sans JP"/>
                  </a:rPr>
                  <a:t>2. カテゴリ整理 &amp; サイト内検索機能</a:t>
                </a:r>
                <a:endParaRPr b="1" sz="775">
                  <a:solidFill>
                    <a:srgbClr val="F8F6F0"/>
                  </a:solidFill>
                  <a:latin typeface="Noto Sans JP"/>
                  <a:ea typeface="Noto Sans JP"/>
                  <a:cs typeface="Noto Sans JP"/>
                  <a:sym typeface="Noto Sans JP"/>
                </a:endParaRPr>
              </a:p>
              <a:p>
                <a:pPr indent="0" lvl="0" marL="0" rtl="0" algn="l">
                  <a:spcBef>
                    <a:spcPts val="450"/>
                  </a:spcBef>
                  <a:spcAft>
                    <a:spcPts val="0"/>
                  </a:spcAft>
                  <a:buNone/>
                </a:pPr>
                <a:r>
                  <a:rPr lang="ja" sz="620">
                    <a:solidFill>
                      <a:srgbClr val="FFFFFF"/>
                    </a:solidFill>
                    <a:highlight>
                      <a:srgbClr val="8B0000"/>
                    </a:highlight>
                    <a:latin typeface="Noto Sans JP"/>
                    <a:ea typeface="Noto Sans JP"/>
                    <a:cs typeface="Noto Sans JP"/>
                    <a:sym typeface="Noto Sans JP"/>
                  </a:rPr>
                  <a:t>#イベントレポート</a:t>
                </a:r>
                <a:r>
                  <a:rPr lang="ja" sz="1085"/>
                  <a:t> </a:t>
                </a:r>
                <a:r>
                  <a:rPr lang="ja" sz="620">
                    <a:solidFill>
                      <a:srgbClr val="FFFFFF"/>
                    </a:solidFill>
                    <a:highlight>
                      <a:srgbClr val="8B0000"/>
                    </a:highlight>
                    <a:latin typeface="Noto Sans JP"/>
                    <a:ea typeface="Noto Sans JP"/>
                    <a:cs typeface="Noto Sans JP"/>
                    <a:sym typeface="Noto Sans JP"/>
                  </a:rPr>
                  <a:t>#日々のレッスン風景</a:t>
                </a:r>
                <a:r>
                  <a:rPr lang="ja" sz="1085"/>
                  <a:t> </a:t>
                </a:r>
                <a:r>
                  <a:rPr lang="ja" sz="620">
                    <a:solidFill>
                      <a:srgbClr val="FFFFFF"/>
                    </a:solidFill>
                    <a:highlight>
                      <a:srgbClr val="8B0000"/>
                    </a:highlight>
                    <a:latin typeface="Noto Sans JP"/>
                    <a:ea typeface="Noto Sans JP"/>
                    <a:cs typeface="Noto Sans JP"/>
                    <a:sym typeface="Noto Sans JP"/>
                  </a:rPr>
                  <a:t>#フラメンコの豆知識</a:t>
                </a:r>
                <a:endParaRPr sz="1085"/>
              </a:p>
              <a:p>
                <a:pPr indent="0" lvl="0" marL="0" rtl="0" algn="l">
                  <a:spcBef>
                    <a:spcPts val="450"/>
                  </a:spcBef>
                  <a:spcAft>
                    <a:spcPts val="0"/>
                  </a:spcAft>
                  <a:buNone/>
                </a:pPr>
                <a:r>
                  <a:rPr b="0" lang="ja" sz="659">
                    <a:solidFill>
                      <a:srgbClr val="EBE7E0"/>
                    </a:solidFill>
                    <a:latin typeface="Noto Sans JP"/>
                    <a:ea typeface="Noto Sans JP"/>
                    <a:cs typeface="Noto Sans JP"/>
                    <a:sym typeface="Noto Sans JP"/>
                  </a:rPr>
                  <a:t>タグの再設定と強力な検索機能により、過去の膨大なアーカイブから目的の記事へ素早くアクセス可能。</a:t>
                </a:r>
                <a:endParaRPr b="0" sz="659">
                  <a:solidFill>
                    <a:srgbClr val="EBE7E0"/>
                  </a:solidFill>
                  <a:latin typeface="Noto Sans JP"/>
                  <a:ea typeface="Noto Sans JP"/>
                  <a:cs typeface="Noto Sans JP"/>
                  <a:sym typeface="Noto Sans JP"/>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300" name="Shape 300"/>
        <p:cNvGrpSpPr/>
        <p:nvPr/>
      </p:nvGrpSpPr>
      <p:grpSpPr>
        <a:xfrm>
          <a:off x="0" y="0"/>
          <a:ext cx="0" cy="0"/>
          <a:chOff x="0" y="0"/>
          <a:chExt cx="0" cy="0"/>
        </a:xfrm>
      </p:grpSpPr>
      <p:grpSp>
        <p:nvGrpSpPr>
          <p:cNvPr id="301" name="Google Shape;301;p24"/>
          <p:cNvGrpSpPr/>
          <p:nvPr/>
        </p:nvGrpSpPr>
        <p:grpSpPr>
          <a:xfrm>
            <a:off x="381000" y="285750"/>
            <a:ext cx="1905000" cy="324000"/>
            <a:chOff x="0" y="0"/>
            <a:chExt cx="1905000" cy="324000"/>
          </a:xfrm>
        </p:grpSpPr>
        <p:sp>
          <p:nvSpPr>
            <p:cNvPr id="302" name="Google Shape;302;p24"/>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Luna de Jerez</a:t>
              </a:r>
              <a:endParaRPr b="1" sz="1800">
                <a:solidFill>
                  <a:srgbClr val="2C2C2C"/>
                </a:solidFill>
                <a:latin typeface="Arial"/>
                <a:ea typeface="Arial"/>
                <a:cs typeface="Arial"/>
                <a:sym typeface="Arial"/>
              </a:endParaRPr>
            </a:p>
          </p:txBody>
        </p:sp>
        <p:sp>
          <p:nvSpPr>
            <p:cNvPr id="303" name="Google Shape;303;p24"/>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04" name="Google Shape;304;p24"/>
          <p:cNvGrpSpPr/>
          <p:nvPr/>
        </p:nvGrpSpPr>
        <p:grpSpPr>
          <a:xfrm>
            <a:off x="381000" y="762000"/>
            <a:ext cx="8382000" cy="19200"/>
            <a:chOff x="0" y="0"/>
            <a:chExt cx="8382000" cy="19200"/>
          </a:xfrm>
        </p:grpSpPr>
        <p:sp>
          <p:nvSpPr>
            <p:cNvPr id="305" name="Google Shape;305;p24"/>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4"/>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7" name="Google Shape;307;p24"/>
          <p:cNvSpPr txBox="1"/>
          <p:nvPr/>
        </p:nvSpPr>
        <p:spPr>
          <a:xfrm>
            <a:off x="381000" y="95250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入力ストレスを最小限に抑え、体験レッスンへの心理的ハードルを下げるフォーム設計。</a:t>
            </a:r>
            <a:endParaRPr b="1" sz="1800">
              <a:solidFill>
                <a:srgbClr val="2C2C2C"/>
              </a:solidFill>
              <a:latin typeface="Arial"/>
              <a:ea typeface="Arial"/>
              <a:cs typeface="Arial"/>
              <a:sym typeface="Arial"/>
            </a:endParaRPr>
          </a:p>
        </p:txBody>
      </p:sp>
      <p:sp>
        <p:nvSpPr>
          <p:cNvPr id="308" name="Google Shape;308;p24"/>
          <p:cNvSpPr txBox="1"/>
          <p:nvPr/>
        </p:nvSpPr>
        <p:spPr>
          <a:xfrm>
            <a:off x="381000" y="1571625"/>
            <a:ext cx="3905400" cy="328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050">
                <a:solidFill>
                  <a:srgbClr val="2C2C2C"/>
                </a:solidFill>
                <a:latin typeface="Noto Sans JP"/>
                <a:ea typeface="Noto Sans JP"/>
                <a:cs typeface="Noto Sans JP"/>
                <a:sym typeface="Noto Sans JP"/>
              </a:rPr>
              <a:t>お問い合わせや体験レッスンの申し込みフォームは、ユーザーとスタジオを繋ぐ重要なコンバージョンポイントです。既存の受講生からの問い合わせはもちろん、ファンからのメッセージ送信時においても、入力の煩わしさを徹底的に排除したUI（ユーザーインターフェース）改善を実施します。</a:t>
            </a:r>
            <a:endParaRPr b="0" sz="1050">
              <a:solidFill>
                <a:srgbClr val="2C2C2C"/>
              </a:solidFill>
              <a:latin typeface="Noto Sans JP"/>
              <a:ea typeface="Noto Sans JP"/>
              <a:cs typeface="Noto Sans JP"/>
              <a:sym typeface="Noto Sans JP"/>
            </a:endParaRPr>
          </a:p>
          <a:p>
            <a:pPr indent="0" lvl="0" marL="0" rtl="0" algn="l">
              <a:spcBef>
                <a:spcPts val="900"/>
              </a:spcBef>
              <a:spcAft>
                <a:spcPts val="0"/>
              </a:spcAft>
              <a:buNone/>
            </a:pPr>
            <a:r>
              <a:rPr b="1" lang="ja" sz="950">
                <a:solidFill>
                  <a:srgbClr val="8B0000"/>
                </a:solidFill>
                <a:latin typeface="Noto Sans JP"/>
                <a:ea typeface="Noto Sans JP"/>
                <a:cs typeface="Noto Sans JP"/>
                <a:sym typeface="Noto Sans JP"/>
              </a:rPr>
              <a:t>・ 最小限の入力項目：</a:t>
            </a:r>
            <a:r>
              <a:rPr b="0" lang="ja" sz="950">
                <a:solidFill>
                  <a:srgbClr val="555555"/>
                </a:solidFill>
                <a:latin typeface="Noto Sans JP"/>
                <a:ea typeface="Noto Sans JP"/>
                <a:cs typeface="Noto Sans JP"/>
                <a:sym typeface="Noto Sans JP"/>
              </a:rPr>
              <a:t>郵便番号からの住所自動入力やスマホ最適化（大フィールド・キーボード自動切替）。</a:t>
            </a:r>
            <a:endParaRPr b="0" sz="950">
              <a:solidFill>
                <a:srgbClr val="555555"/>
              </a:solidFill>
              <a:latin typeface="Noto Sans JP"/>
              <a:ea typeface="Noto Sans JP"/>
              <a:cs typeface="Noto Sans JP"/>
              <a:sym typeface="Noto Sans JP"/>
            </a:endParaRPr>
          </a:p>
          <a:p>
            <a:pPr indent="0" lvl="0" marL="0" rtl="0" algn="l">
              <a:spcBef>
                <a:spcPts val="600"/>
              </a:spcBef>
              <a:spcAft>
                <a:spcPts val="0"/>
              </a:spcAft>
              <a:buNone/>
            </a:pPr>
            <a:r>
              <a:rPr b="1" lang="ja" sz="950">
                <a:solidFill>
                  <a:srgbClr val="8B0000"/>
                </a:solidFill>
                <a:latin typeface="Noto Sans JP"/>
                <a:ea typeface="Noto Sans JP"/>
                <a:cs typeface="Noto Sans JP"/>
                <a:sym typeface="Noto Sans JP"/>
              </a:rPr>
              <a:t>・ ステップ化＆進捗の可視化：</a:t>
            </a:r>
            <a:r>
              <a:rPr b="0" lang="ja" sz="950">
                <a:solidFill>
                  <a:srgbClr val="555555"/>
                </a:solidFill>
                <a:latin typeface="Noto Sans JP"/>
                <a:ea typeface="Noto Sans JP"/>
                <a:cs typeface="Noto Sans JP"/>
                <a:sym typeface="Noto Sans JP"/>
              </a:rPr>
              <a:t>「お客様情報」「希望日時」「確認画面」の段階設計とプログレスバー表示。</a:t>
            </a:r>
            <a:endParaRPr b="0" sz="950">
              <a:solidFill>
                <a:srgbClr val="555555"/>
              </a:solidFill>
              <a:latin typeface="Noto Sans JP"/>
              <a:ea typeface="Noto Sans JP"/>
              <a:cs typeface="Noto Sans JP"/>
              <a:sym typeface="Noto Sans JP"/>
            </a:endParaRPr>
          </a:p>
          <a:p>
            <a:pPr indent="0" lvl="0" marL="0" rtl="0" algn="l">
              <a:spcBef>
                <a:spcPts val="600"/>
              </a:spcBef>
              <a:spcAft>
                <a:spcPts val="0"/>
              </a:spcAft>
              <a:buNone/>
            </a:pPr>
            <a:r>
              <a:rPr b="1" lang="ja" sz="950">
                <a:solidFill>
                  <a:srgbClr val="8B0000"/>
                </a:solidFill>
                <a:latin typeface="Noto Sans JP"/>
                <a:ea typeface="Noto Sans JP"/>
                <a:cs typeface="Noto Sans JP"/>
                <a:sym typeface="Noto Sans JP"/>
              </a:rPr>
              <a:t>・ マイクロコピーの配置：</a:t>
            </a:r>
            <a:r>
              <a:rPr b="0" lang="ja" sz="950">
                <a:solidFill>
                  <a:srgbClr val="555555"/>
                </a:solidFill>
                <a:latin typeface="Noto Sans JP"/>
                <a:ea typeface="Noto Sans JP"/>
                <a:cs typeface="Noto Sans JP"/>
                <a:sym typeface="Noto Sans JP"/>
              </a:rPr>
              <a:t>「送信後24時間以内にご連絡」で送信前の不安を払拭し安心感を提示。</a:t>
            </a:r>
            <a:endParaRPr b="0" sz="950">
              <a:solidFill>
                <a:srgbClr val="555555"/>
              </a:solidFill>
              <a:latin typeface="Noto Sans JP"/>
              <a:ea typeface="Noto Sans JP"/>
              <a:cs typeface="Noto Sans JP"/>
              <a:sym typeface="Noto Sans JP"/>
            </a:endParaRPr>
          </a:p>
        </p:txBody>
      </p:sp>
      <p:grpSp>
        <p:nvGrpSpPr>
          <p:cNvPr id="309" name="Google Shape;309;p24"/>
          <p:cNvGrpSpPr/>
          <p:nvPr/>
        </p:nvGrpSpPr>
        <p:grpSpPr>
          <a:xfrm>
            <a:off x="4572000" y="1571625"/>
            <a:ext cx="4191000" cy="3190800"/>
            <a:chOff x="0" y="0"/>
            <a:chExt cx="4191000" cy="3190800"/>
          </a:xfrm>
        </p:grpSpPr>
        <p:sp>
          <p:nvSpPr>
            <p:cNvPr id="310" name="Google Shape;310;p24"/>
            <p:cNvSpPr/>
            <p:nvPr/>
          </p:nvSpPr>
          <p:spPr>
            <a:xfrm>
              <a:off x="0" y="0"/>
              <a:ext cx="4191000" cy="3190800"/>
            </a:xfrm>
            <a:prstGeom prst="roundRect">
              <a:avLst>
                <a:gd fmla="val 119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4"/>
            <p:cNvSpPr/>
            <p:nvPr/>
          </p:nvSpPr>
          <p:spPr>
            <a:xfrm>
              <a:off x="0" y="0"/>
              <a:ext cx="4191000" cy="3190800"/>
            </a:xfrm>
            <a:prstGeom prst="roundRect">
              <a:avLst>
                <a:gd fmla="val 1194" name="adj"/>
              </a:avLst>
            </a:prstGeom>
            <a:solidFill>
              <a:srgbClr val="000000">
                <a:alpha val="0"/>
              </a:srgbClr>
            </a:solidFill>
            <a:ln cap="flat" cmpd="sng" w="9525">
              <a:solidFill>
                <a:srgbClr val="EBE7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4"/>
            <p:cNvSpPr/>
            <p:nvPr/>
          </p:nvSpPr>
          <p:spPr>
            <a:xfrm>
              <a:off x="285750" y="238125"/>
              <a:ext cx="1095300" cy="381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4"/>
            <p:cNvSpPr txBox="1"/>
            <p:nvPr/>
          </p:nvSpPr>
          <p:spPr>
            <a:xfrm>
              <a:off x="285750" y="314325"/>
              <a:ext cx="10953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850">
                  <a:solidFill>
                    <a:srgbClr val="8B0000"/>
                  </a:solidFill>
                  <a:latin typeface="Noto Sans JP"/>
                  <a:ea typeface="Noto Sans JP"/>
                  <a:cs typeface="Noto Sans JP"/>
                  <a:sym typeface="Noto Sans JP"/>
                </a:rPr>
                <a:t>1. お客様情報</a:t>
              </a:r>
              <a:endParaRPr b="1" sz="850">
                <a:solidFill>
                  <a:srgbClr val="8B0000"/>
                </a:solidFill>
                <a:latin typeface="Noto Sans JP"/>
                <a:ea typeface="Noto Sans JP"/>
                <a:cs typeface="Noto Sans JP"/>
                <a:sym typeface="Noto Sans JP"/>
              </a:endParaRPr>
            </a:p>
          </p:txBody>
        </p:sp>
        <p:sp>
          <p:nvSpPr>
            <p:cNvPr id="314" name="Google Shape;314;p24"/>
            <p:cNvSpPr/>
            <p:nvPr/>
          </p:nvSpPr>
          <p:spPr>
            <a:xfrm>
              <a:off x="1495425" y="238125"/>
              <a:ext cx="1095300" cy="381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4"/>
            <p:cNvSpPr txBox="1"/>
            <p:nvPr/>
          </p:nvSpPr>
          <p:spPr>
            <a:xfrm>
              <a:off x="1495425" y="314325"/>
              <a:ext cx="10953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850">
                  <a:solidFill>
                    <a:srgbClr val="888888"/>
                  </a:solidFill>
                  <a:latin typeface="Noto Sans JP"/>
                  <a:ea typeface="Noto Sans JP"/>
                  <a:cs typeface="Noto Sans JP"/>
                  <a:sym typeface="Noto Sans JP"/>
                </a:rPr>
                <a:t>2. 希望日時</a:t>
              </a:r>
              <a:endParaRPr b="0" sz="850">
                <a:solidFill>
                  <a:srgbClr val="888888"/>
                </a:solidFill>
                <a:latin typeface="Noto Sans JP"/>
                <a:ea typeface="Noto Sans JP"/>
                <a:cs typeface="Noto Sans JP"/>
                <a:sym typeface="Noto Sans JP"/>
              </a:endParaRPr>
            </a:p>
          </p:txBody>
        </p:sp>
        <p:sp>
          <p:nvSpPr>
            <p:cNvPr id="316" name="Google Shape;316;p24"/>
            <p:cNvSpPr/>
            <p:nvPr/>
          </p:nvSpPr>
          <p:spPr>
            <a:xfrm>
              <a:off x="2705100" y="238125"/>
              <a:ext cx="1095300" cy="381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24"/>
            <p:cNvSpPr txBox="1"/>
            <p:nvPr/>
          </p:nvSpPr>
          <p:spPr>
            <a:xfrm>
              <a:off x="2705100" y="314325"/>
              <a:ext cx="10953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850">
                  <a:solidFill>
                    <a:srgbClr val="888888"/>
                  </a:solidFill>
                  <a:latin typeface="Noto Sans JP"/>
                  <a:ea typeface="Noto Sans JP"/>
                  <a:cs typeface="Noto Sans JP"/>
                  <a:sym typeface="Noto Sans JP"/>
                </a:rPr>
                <a:t>3. 確認画面</a:t>
              </a:r>
              <a:endParaRPr b="0" sz="850">
                <a:solidFill>
                  <a:srgbClr val="888888"/>
                </a:solidFill>
                <a:latin typeface="Noto Sans JP"/>
                <a:ea typeface="Noto Sans JP"/>
                <a:cs typeface="Noto Sans JP"/>
                <a:sym typeface="Noto Sans JP"/>
              </a:endParaRPr>
            </a:p>
          </p:txBody>
        </p:sp>
        <p:sp>
          <p:nvSpPr>
            <p:cNvPr id="318" name="Google Shape;318;p24"/>
            <p:cNvSpPr txBox="1"/>
            <p:nvPr/>
          </p:nvSpPr>
          <p:spPr>
            <a:xfrm>
              <a:off x="285750" y="619125"/>
              <a:ext cx="3619500" cy="176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950">
                  <a:solidFill>
                    <a:srgbClr val="2C2C2C"/>
                  </a:solidFill>
                  <a:latin typeface="Noto Sans JP"/>
                  <a:ea typeface="Noto Sans JP"/>
                  <a:cs typeface="Noto Sans JP"/>
                  <a:sym typeface="Noto Sans JP"/>
                </a:rPr>
                <a:t>お名前 </a:t>
              </a:r>
              <a:r>
                <a:rPr b="1" lang="ja" sz="800">
                  <a:solidFill>
                    <a:srgbClr val="8B0000"/>
                  </a:solidFill>
                  <a:latin typeface="Noto Sans JP"/>
                  <a:ea typeface="Noto Sans JP"/>
                  <a:cs typeface="Noto Sans JP"/>
                  <a:sym typeface="Noto Sans JP"/>
                </a:rPr>
                <a:t>[必須]</a:t>
              </a:r>
              <a:endParaRPr b="1" sz="950">
                <a:solidFill>
                  <a:srgbClr val="2C2C2C"/>
                </a:solidFill>
                <a:latin typeface="Noto Sans JP"/>
                <a:ea typeface="Noto Sans JP"/>
                <a:cs typeface="Noto Sans JP"/>
                <a:sym typeface="Noto Sans JP"/>
              </a:endParaRPr>
            </a:p>
            <a:p>
              <a:pPr indent="0" lvl="0" marL="0" rtl="0" algn="l">
                <a:spcBef>
                  <a:spcPts val="150"/>
                </a:spcBef>
                <a:spcAft>
                  <a:spcPts val="0"/>
                </a:spcAft>
                <a:buNone/>
              </a:pPr>
              <a:r>
                <a:rPr b="0" lang="ja" sz="900">
                  <a:solidFill>
                    <a:srgbClr val="A0A0A0"/>
                  </a:solidFill>
                  <a:latin typeface="Noto Sans JP"/>
                  <a:ea typeface="Noto Sans JP"/>
                  <a:cs typeface="Noto Sans JP"/>
                  <a:sym typeface="Noto Sans JP"/>
                </a:rPr>
                <a:t>山田 太郎</a:t>
              </a:r>
              <a:endParaRPr b="0" sz="900">
                <a:solidFill>
                  <a:srgbClr val="A0A0A0"/>
                </a:solidFill>
                <a:latin typeface="Noto Sans JP"/>
                <a:ea typeface="Noto Sans JP"/>
                <a:cs typeface="Noto Sans JP"/>
                <a:sym typeface="Noto Sans JP"/>
              </a:endParaRPr>
            </a:p>
            <a:p>
              <a:pPr indent="0" lvl="0" marL="0" rtl="0" algn="l">
                <a:spcBef>
                  <a:spcPts val="900"/>
                </a:spcBef>
                <a:spcAft>
                  <a:spcPts val="0"/>
                </a:spcAft>
                <a:buNone/>
              </a:pPr>
              <a:r>
                <a:rPr b="1" lang="ja" sz="950">
                  <a:solidFill>
                    <a:srgbClr val="2C2C2C"/>
                  </a:solidFill>
                  <a:latin typeface="Noto Sans JP"/>
                  <a:ea typeface="Noto Sans JP"/>
                  <a:cs typeface="Noto Sans JP"/>
                  <a:sym typeface="Noto Sans JP"/>
                </a:rPr>
                <a:t>郵便番号 </a:t>
              </a:r>
              <a:r>
                <a:rPr b="0" lang="ja" sz="750">
                  <a:solidFill>
                    <a:srgbClr val="666666"/>
                  </a:solidFill>
                  <a:latin typeface="Noto Sans JP"/>
                  <a:ea typeface="Noto Sans JP"/>
                  <a:cs typeface="Noto Sans JP"/>
                  <a:sym typeface="Noto Sans JP"/>
                </a:rPr>
                <a:t>（住所自動入力）</a:t>
              </a:r>
              <a:endParaRPr b="1" sz="950">
                <a:solidFill>
                  <a:srgbClr val="2C2C2C"/>
                </a:solidFill>
                <a:latin typeface="Noto Sans JP"/>
                <a:ea typeface="Noto Sans JP"/>
                <a:cs typeface="Noto Sans JP"/>
                <a:sym typeface="Noto Sans JP"/>
              </a:endParaRPr>
            </a:p>
            <a:p>
              <a:pPr indent="0" lvl="0" marL="0" rtl="0" algn="l">
                <a:spcBef>
                  <a:spcPts val="150"/>
                </a:spcBef>
                <a:spcAft>
                  <a:spcPts val="0"/>
                </a:spcAft>
                <a:buNone/>
              </a:pPr>
              <a:r>
                <a:rPr b="0" lang="ja" sz="900">
                  <a:solidFill>
                    <a:srgbClr val="A0A0A0"/>
                  </a:solidFill>
                  <a:latin typeface="Noto Sans JP"/>
                  <a:ea typeface="Noto Sans JP"/>
                  <a:cs typeface="Noto Sans JP"/>
                  <a:sym typeface="Noto Sans JP"/>
                </a:rPr>
                <a:t>100-0001</a:t>
              </a:r>
              <a:endParaRPr b="0" sz="900">
                <a:solidFill>
                  <a:srgbClr val="A0A0A0"/>
                </a:solidFill>
                <a:latin typeface="Noto Sans JP"/>
                <a:ea typeface="Noto Sans JP"/>
                <a:cs typeface="Noto Sans JP"/>
                <a:sym typeface="Noto Sans JP"/>
              </a:endParaRPr>
            </a:p>
            <a:p>
              <a:pPr indent="0" lvl="0" marL="0" rtl="0" algn="l">
                <a:spcBef>
                  <a:spcPts val="900"/>
                </a:spcBef>
                <a:spcAft>
                  <a:spcPts val="0"/>
                </a:spcAft>
                <a:buNone/>
              </a:pPr>
              <a:r>
                <a:rPr b="1" lang="ja" sz="950">
                  <a:solidFill>
                    <a:srgbClr val="2C2C2C"/>
                  </a:solidFill>
                  <a:latin typeface="Noto Sans JP"/>
                  <a:ea typeface="Noto Sans JP"/>
                  <a:cs typeface="Noto Sans JP"/>
                  <a:sym typeface="Noto Sans JP"/>
                </a:rPr>
                <a:t>ご連絡先（メールまたはお電話）</a:t>
              </a:r>
              <a:endParaRPr b="1" sz="950">
                <a:solidFill>
                  <a:srgbClr val="2C2C2C"/>
                </a:solidFill>
                <a:latin typeface="Noto Sans JP"/>
                <a:ea typeface="Noto Sans JP"/>
                <a:cs typeface="Noto Sans JP"/>
                <a:sym typeface="Noto Sans JP"/>
              </a:endParaRPr>
            </a:p>
            <a:p>
              <a:pPr indent="0" lvl="0" marL="0" rtl="0" algn="l">
                <a:spcBef>
                  <a:spcPts val="150"/>
                </a:spcBef>
                <a:spcAft>
                  <a:spcPts val="600"/>
                </a:spcAft>
                <a:buNone/>
              </a:pPr>
              <a:r>
                <a:rPr b="0" lang="ja" sz="900">
                  <a:solidFill>
                    <a:srgbClr val="A0A0A0"/>
                  </a:solidFill>
                  <a:latin typeface="Noto Sans JP"/>
                  <a:ea typeface="Noto Sans JP"/>
                  <a:cs typeface="Noto Sans JP"/>
                  <a:sym typeface="Noto Sans JP"/>
                </a:rPr>
                <a:t>example@luna-de-jerez.jp</a:t>
              </a:r>
              <a:endParaRPr b="0" sz="900">
                <a:solidFill>
                  <a:srgbClr val="A0A0A0"/>
                </a:solidFill>
                <a:latin typeface="Noto Sans JP"/>
                <a:ea typeface="Noto Sans JP"/>
                <a:cs typeface="Noto Sans JP"/>
                <a:sym typeface="Noto Sans JP"/>
              </a:endParaRPr>
            </a:p>
          </p:txBody>
        </p:sp>
        <p:sp>
          <p:nvSpPr>
            <p:cNvPr id="319" name="Google Shape;319;p24"/>
            <p:cNvSpPr/>
            <p:nvPr/>
          </p:nvSpPr>
          <p:spPr>
            <a:xfrm>
              <a:off x="285750" y="2400300"/>
              <a:ext cx="3619500" cy="362100"/>
            </a:xfrm>
            <a:prstGeom prst="roundRect">
              <a:avLst>
                <a:gd fmla="val 5263" name="adj"/>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4"/>
            <p:cNvSpPr txBox="1"/>
            <p:nvPr/>
          </p:nvSpPr>
          <p:spPr>
            <a:xfrm>
              <a:off x="285750" y="2400300"/>
              <a:ext cx="36195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050">
                  <a:solidFill>
                    <a:srgbClr val="FFFFFF"/>
                  </a:solidFill>
                  <a:latin typeface="Noto Sans JP"/>
                  <a:ea typeface="Noto Sans JP"/>
                  <a:cs typeface="Noto Sans JP"/>
                  <a:sym typeface="Noto Sans JP"/>
                </a:rPr>
                <a:t>次へ進む （希望日時の選択）</a:t>
              </a:r>
              <a:endParaRPr b="1" sz="1050">
                <a:solidFill>
                  <a:srgbClr val="FFFFFF"/>
                </a:solidFill>
                <a:latin typeface="Noto Sans JP"/>
                <a:ea typeface="Noto Sans JP"/>
                <a:cs typeface="Noto Sans JP"/>
                <a:sym typeface="Noto Sans JP"/>
              </a:endParaRPr>
            </a:p>
          </p:txBody>
        </p:sp>
        <p:sp>
          <p:nvSpPr>
            <p:cNvPr id="321" name="Google Shape;321;p24"/>
            <p:cNvSpPr txBox="1"/>
            <p:nvPr/>
          </p:nvSpPr>
          <p:spPr>
            <a:xfrm>
              <a:off x="285750" y="2809875"/>
              <a:ext cx="36195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ja" sz="850">
                  <a:solidFill>
                    <a:srgbClr val="666666"/>
                  </a:solidFill>
                  <a:latin typeface="Noto Sans JP"/>
                  <a:ea typeface="Noto Sans JP"/>
                  <a:cs typeface="Noto Sans JP"/>
                  <a:sym typeface="Noto Sans JP"/>
                </a:rPr>
                <a:t>※ 送信後、24時間以内に担当者よりご連絡いたします</a:t>
              </a:r>
              <a:endParaRPr b="0" sz="850">
                <a:solidFill>
                  <a:srgbClr val="666666"/>
                </a:solidFill>
                <a:latin typeface="Noto Sans JP"/>
                <a:ea typeface="Noto Sans JP"/>
                <a:cs typeface="Noto Sans JP"/>
                <a:sym typeface="Noto Sans JP"/>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0000"/>
        </a:solidFill>
      </p:bgPr>
    </p:bg>
    <p:spTree>
      <p:nvGrpSpPr>
        <p:cNvPr id="325" name="Shape 325"/>
        <p:cNvGrpSpPr/>
        <p:nvPr/>
      </p:nvGrpSpPr>
      <p:grpSpPr>
        <a:xfrm>
          <a:off x="0" y="0"/>
          <a:ext cx="0" cy="0"/>
          <a:chOff x="0" y="0"/>
          <a:chExt cx="0" cy="0"/>
        </a:xfrm>
      </p:grpSpPr>
      <p:grpSp>
        <p:nvGrpSpPr>
          <p:cNvPr id="326" name="Google Shape;326;p25"/>
          <p:cNvGrpSpPr/>
          <p:nvPr/>
        </p:nvGrpSpPr>
        <p:grpSpPr>
          <a:xfrm>
            <a:off x="381000" y="285750"/>
            <a:ext cx="1905000" cy="324000"/>
            <a:chOff x="0" y="0"/>
            <a:chExt cx="1905000" cy="324000"/>
          </a:xfrm>
        </p:grpSpPr>
        <p:sp>
          <p:nvSpPr>
            <p:cNvPr id="327" name="Google Shape;327;p25"/>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FFFFFF"/>
                  </a:solidFill>
                  <a:latin typeface="Arial"/>
                  <a:ea typeface="Arial"/>
                  <a:cs typeface="Arial"/>
                  <a:sym typeface="Arial"/>
                </a:rPr>
                <a:t>Luna de Jerez</a:t>
              </a:r>
              <a:endParaRPr b="1" sz="1800">
                <a:solidFill>
                  <a:srgbClr val="FFFFFF"/>
                </a:solidFill>
                <a:latin typeface="Arial"/>
                <a:ea typeface="Arial"/>
                <a:cs typeface="Arial"/>
                <a:sym typeface="Arial"/>
              </a:endParaRPr>
            </a:p>
          </p:txBody>
        </p:sp>
        <p:sp>
          <p:nvSpPr>
            <p:cNvPr id="328" name="Google Shape;328;p25"/>
            <p:cNvSpPr/>
            <p:nvPr/>
          </p:nvSpPr>
          <p:spPr>
            <a:xfrm>
              <a:off x="0" y="304800"/>
              <a:ext cx="381000" cy="192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29" name="Google Shape;329;p25"/>
          <p:cNvSpPr/>
          <p:nvPr/>
        </p:nvSpPr>
        <p:spPr>
          <a:xfrm>
            <a:off x="381000" y="762000"/>
            <a:ext cx="8382000" cy="9600"/>
          </a:xfrm>
          <a:prstGeom prst="rect">
            <a:avLst/>
          </a:prstGeom>
          <a:solidFill>
            <a:srgbClr val="FFFFFF">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5"/>
          <p:cNvSpPr txBox="1"/>
          <p:nvPr/>
        </p:nvSpPr>
        <p:spPr>
          <a:xfrm>
            <a:off x="381000" y="952500"/>
            <a:ext cx="8382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50">
                <a:solidFill>
                  <a:srgbClr val="FFFFFF"/>
                </a:solidFill>
                <a:latin typeface="Arial"/>
                <a:ea typeface="Arial"/>
                <a:cs typeface="Arial"/>
                <a:sym typeface="Arial"/>
              </a:rPr>
              <a:t>2026年12月の本公開に向け、段階的なテストとフィードバックを実施します。</a:t>
            </a:r>
            <a:endParaRPr b="1" sz="1850">
              <a:solidFill>
                <a:srgbClr val="FFFFFF"/>
              </a:solidFill>
              <a:latin typeface="Arial"/>
              <a:ea typeface="Arial"/>
              <a:cs typeface="Arial"/>
              <a:sym typeface="Arial"/>
            </a:endParaRPr>
          </a:p>
          <a:p>
            <a:pPr indent="0" lvl="0" marL="0" rtl="0" algn="l">
              <a:spcBef>
                <a:spcPts val="600"/>
              </a:spcBef>
              <a:spcAft>
                <a:spcPts val="0"/>
              </a:spcAft>
              <a:buNone/>
            </a:pPr>
            <a:r>
              <a:rPr b="0" lang="ja" sz="1018">
                <a:solidFill>
                  <a:srgbClr val="FFFFFF"/>
                </a:solidFill>
                <a:latin typeface="Noto Sans JP"/>
                <a:ea typeface="Noto Sans JP"/>
                <a:cs typeface="Noto Sans JP"/>
                <a:sym typeface="Noto Sans JP"/>
              </a:rPr>
              <a:t>新しいWEBサイトが皆様にとって真に使いやすいものとなるよう、本日のプレビュー以降、綿密なスケジュールに沿ってプロジェクトを推進してまいります。</a:t>
            </a:r>
            <a:endParaRPr b="0" sz="1018">
              <a:solidFill>
                <a:srgbClr val="FFFFFF"/>
              </a:solidFill>
              <a:latin typeface="Noto Sans JP"/>
              <a:ea typeface="Noto Sans JP"/>
              <a:cs typeface="Noto Sans JP"/>
              <a:sym typeface="Noto Sans JP"/>
            </a:endParaRPr>
          </a:p>
        </p:txBody>
      </p:sp>
      <p:grpSp>
        <p:nvGrpSpPr>
          <p:cNvPr id="331" name="Google Shape;331;p25"/>
          <p:cNvGrpSpPr/>
          <p:nvPr/>
        </p:nvGrpSpPr>
        <p:grpSpPr>
          <a:xfrm>
            <a:off x="381000" y="1809750"/>
            <a:ext cx="8382000" cy="2105100"/>
            <a:chOff x="0" y="0"/>
            <a:chExt cx="8382000" cy="2105100"/>
          </a:xfrm>
        </p:grpSpPr>
        <p:grpSp>
          <p:nvGrpSpPr>
            <p:cNvPr id="332" name="Google Shape;332;p25"/>
            <p:cNvGrpSpPr/>
            <p:nvPr/>
          </p:nvGrpSpPr>
          <p:grpSpPr>
            <a:xfrm>
              <a:off x="0" y="0"/>
              <a:ext cx="8382000" cy="638100"/>
              <a:chOff x="0" y="0"/>
              <a:chExt cx="8382000" cy="638100"/>
            </a:xfrm>
          </p:grpSpPr>
          <p:sp>
            <p:nvSpPr>
              <p:cNvPr id="333" name="Google Shape;333;p25"/>
              <p:cNvSpPr/>
              <p:nvPr/>
            </p:nvSpPr>
            <p:spPr>
              <a:xfrm>
                <a:off x="0" y="0"/>
                <a:ext cx="8382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5"/>
              <p:cNvSpPr txBox="1"/>
              <p:nvPr/>
            </p:nvSpPr>
            <p:spPr>
              <a:xfrm>
                <a:off x="0" y="11430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200">
                    <a:solidFill>
                      <a:srgbClr val="F8F6F0"/>
                    </a:solidFill>
                    <a:latin typeface="Noto Sans JP"/>
                    <a:ea typeface="Noto Sans JP"/>
                    <a:cs typeface="Noto Sans JP"/>
                    <a:sym typeface="Noto Sans JP"/>
                  </a:rPr>
                  <a:t>2026年10月下旬</a:t>
                </a:r>
                <a:endParaRPr b="1" sz="1200">
                  <a:solidFill>
                    <a:srgbClr val="F8F6F0"/>
                  </a:solidFill>
                  <a:latin typeface="Noto Sans JP"/>
                  <a:ea typeface="Noto Sans JP"/>
                  <a:cs typeface="Noto Sans JP"/>
                  <a:sym typeface="Noto Sans JP"/>
                </a:endParaRPr>
              </a:p>
            </p:txBody>
          </p:sp>
          <p:sp>
            <p:nvSpPr>
              <p:cNvPr id="335" name="Google Shape;335;p25"/>
              <p:cNvSpPr txBox="1"/>
              <p:nvPr/>
            </p:nvSpPr>
            <p:spPr>
              <a:xfrm>
                <a:off x="2095500" y="114300"/>
                <a:ext cx="6286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200">
                    <a:solidFill>
                      <a:srgbClr val="FFFFFF"/>
                    </a:solidFill>
                    <a:latin typeface="Noto Sans JP"/>
                    <a:ea typeface="Noto Sans JP"/>
                    <a:cs typeface="Noto Sans JP"/>
                    <a:sym typeface="Noto Sans JP"/>
                  </a:rPr>
                  <a:t>デザインの最終確定</a:t>
                </a:r>
                <a:endParaRPr b="0" sz="1200">
                  <a:solidFill>
                    <a:srgbClr val="FFFFFF"/>
                  </a:solidFill>
                  <a:latin typeface="Noto Sans JP"/>
                  <a:ea typeface="Noto Sans JP"/>
                  <a:cs typeface="Noto Sans JP"/>
                  <a:sym typeface="Noto Sans JP"/>
                </a:endParaRPr>
              </a:p>
              <a:p>
                <a:pPr indent="0" lvl="0" marL="0" rtl="0" algn="l">
                  <a:spcBef>
                    <a:spcPts val="300"/>
                  </a:spcBef>
                  <a:spcAft>
                    <a:spcPts val="0"/>
                  </a:spcAft>
                  <a:buNone/>
                </a:pPr>
                <a:r>
                  <a:rPr b="0" lang="ja" sz="1050">
                    <a:solidFill>
                      <a:srgbClr val="FFFFFF"/>
                    </a:solidFill>
                    <a:latin typeface="Noto Sans JP"/>
                    <a:ea typeface="Noto Sans JP"/>
                    <a:cs typeface="Noto Sans JP"/>
                    <a:sym typeface="Noto Sans JP"/>
                  </a:rPr>
                  <a:t>本日皆様からいただいたフィードバックを基に、細部のデザインや導線のブラッシュアップを行います。</a:t>
                </a:r>
                <a:endParaRPr b="0" sz="1050">
                  <a:solidFill>
                    <a:srgbClr val="FFFFFF"/>
                  </a:solidFill>
                  <a:latin typeface="Noto Sans JP"/>
                  <a:ea typeface="Noto Sans JP"/>
                  <a:cs typeface="Noto Sans JP"/>
                  <a:sym typeface="Noto Sans JP"/>
                </a:endParaRPr>
              </a:p>
            </p:txBody>
          </p:sp>
        </p:grpSp>
        <p:grpSp>
          <p:nvGrpSpPr>
            <p:cNvPr id="336" name="Google Shape;336;p25"/>
            <p:cNvGrpSpPr/>
            <p:nvPr/>
          </p:nvGrpSpPr>
          <p:grpSpPr>
            <a:xfrm>
              <a:off x="0" y="714375"/>
              <a:ext cx="8382000" cy="638100"/>
              <a:chOff x="0" y="0"/>
              <a:chExt cx="8382000" cy="638100"/>
            </a:xfrm>
          </p:grpSpPr>
          <p:sp>
            <p:nvSpPr>
              <p:cNvPr id="337" name="Google Shape;337;p25"/>
              <p:cNvSpPr/>
              <p:nvPr/>
            </p:nvSpPr>
            <p:spPr>
              <a:xfrm>
                <a:off x="0" y="0"/>
                <a:ext cx="8382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5"/>
              <p:cNvSpPr txBox="1"/>
              <p:nvPr/>
            </p:nvSpPr>
            <p:spPr>
              <a:xfrm>
                <a:off x="0" y="11430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200">
                    <a:solidFill>
                      <a:srgbClr val="F8F6F0"/>
                    </a:solidFill>
                    <a:latin typeface="Noto Sans JP"/>
                    <a:ea typeface="Noto Sans JP"/>
                    <a:cs typeface="Noto Sans JP"/>
                    <a:sym typeface="Noto Sans JP"/>
                  </a:rPr>
                  <a:t>2026年11月中旬</a:t>
                </a:r>
                <a:endParaRPr b="1" sz="1200">
                  <a:solidFill>
                    <a:srgbClr val="F8F6F0"/>
                  </a:solidFill>
                  <a:latin typeface="Noto Sans JP"/>
                  <a:ea typeface="Noto Sans JP"/>
                  <a:cs typeface="Noto Sans JP"/>
                  <a:sym typeface="Noto Sans JP"/>
                </a:endParaRPr>
              </a:p>
            </p:txBody>
          </p:sp>
          <p:sp>
            <p:nvSpPr>
              <p:cNvPr id="339" name="Google Shape;339;p25"/>
              <p:cNvSpPr txBox="1"/>
              <p:nvPr/>
            </p:nvSpPr>
            <p:spPr>
              <a:xfrm>
                <a:off x="2095500" y="114300"/>
                <a:ext cx="6286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110">
                    <a:solidFill>
                      <a:srgbClr val="FFFFFF"/>
                    </a:solidFill>
                    <a:latin typeface="Noto Sans JP"/>
                    <a:ea typeface="Noto Sans JP"/>
                    <a:cs typeface="Noto Sans JP"/>
                    <a:sym typeface="Noto Sans JP"/>
                  </a:rPr>
                  <a:t>システムの開発とテスト環境（ステージング）の構築</a:t>
                </a:r>
                <a:endParaRPr b="0" sz="1110">
                  <a:solidFill>
                    <a:srgbClr val="FFFFFF"/>
                  </a:solidFill>
                  <a:latin typeface="Noto Sans JP"/>
                  <a:ea typeface="Noto Sans JP"/>
                  <a:cs typeface="Noto Sans JP"/>
                  <a:sym typeface="Noto Sans JP"/>
                </a:endParaRPr>
              </a:p>
              <a:p>
                <a:pPr indent="0" lvl="0" marL="0" rtl="0" algn="l">
                  <a:spcBef>
                    <a:spcPts val="300"/>
                  </a:spcBef>
                  <a:spcAft>
                    <a:spcPts val="0"/>
                  </a:spcAft>
                  <a:buNone/>
                </a:pPr>
                <a:r>
                  <a:rPr b="0" lang="ja" sz="971">
                    <a:solidFill>
                      <a:srgbClr val="FFFFFF"/>
                    </a:solidFill>
                    <a:latin typeface="Noto Sans JP"/>
                    <a:ea typeface="Noto Sans JP"/>
                    <a:cs typeface="Noto Sans JP"/>
                    <a:sym typeface="Noto Sans JP"/>
                  </a:rPr>
                  <a:t>一部の受講生の皆様にテスト版を触っていただき、スマートフォンでの表示崩れや、スケジュール予約の動作確認など、実際の使用感に基づいた最終調整を実施します。</a:t>
                </a:r>
                <a:endParaRPr b="0" sz="971">
                  <a:solidFill>
                    <a:srgbClr val="FFFFFF"/>
                  </a:solidFill>
                  <a:latin typeface="Noto Sans JP"/>
                  <a:ea typeface="Noto Sans JP"/>
                  <a:cs typeface="Noto Sans JP"/>
                  <a:sym typeface="Noto Sans JP"/>
                </a:endParaRPr>
              </a:p>
            </p:txBody>
          </p:sp>
        </p:grpSp>
        <p:grpSp>
          <p:nvGrpSpPr>
            <p:cNvPr id="340" name="Google Shape;340;p25"/>
            <p:cNvGrpSpPr/>
            <p:nvPr/>
          </p:nvGrpSpPr>
          <p:grpSpPr>
            <a:xfrm>
              <a:off x="0" y="1428750"/>
              <a:ext cx="8382000" cy="676350"/>
              <a:chOff x="0" y="0"/>
              <a:chExt cx="8382000" cy="676350"/>
            </a:xfrm>
          </p:grpSpPr>
          <p:sp>
            <p:nvSpPr>
              <p:cNvPr id="341" name="Google Shape;341;p25"/>
              <p:cNvSpPr/>
              <p:nvPr/>
            </p:nvSpPr>
            <p:spPr>
              <a:xfrm>
                <a:off x="0" y="0"/>
                <a:ext cx="8382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5"/>
              <p:cNvSpPr txBox="1"/>
              <p:nvPr/>
            </p:nvSpPr>
            <p:spPr>
              <a:xfrm>
                <a:off x="0" y="11430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200">
                    <a:solidFill>
                      <a:srgbClr val="F8F6F0"/>
                    </a:solidFill>
                    <a:latin typeface="Noto Sans JP"/>
                    <a:ea typeface="Noto Sans JP"/>
                    <a:cs typeface="Noto Sans JP"/>
                    <a:sym typeface="Noto Sans JP"/>
                  </a:rPr>
                  <a:t>2026年12月上旬</a:t>
                </a:r>
                <a:endParaRPr b="1" sz="1200">
                  <a:solidFill>
                    <a:srgbClr val="F8F6F0"/>
                  </a:solidFill>
                  <a:latin typeface="Noto Sans JP"/>
                  <a:ea typeface="Noto Sans JP"/>
                  <a:cs typeface="Noto Sans JP"/>
                  <a:sym typeface="Noto Sans JP"/>
                </a:endParaRPr>
              </a:p>
            </p:txBody>
          </p:sp>
          <p:sp>
            <p:nvSpPr>
              <p:cNvPr id="343" name="Google Shape;343;p25"/>
              <p:cNvSpPr txBox="1"/>
              <p:nvPr/>
            </p:nvSpPr>
            <p:spPr>
              <a:xfrm>
                <a:off x="2095500" y="114300"/>
                <a:ext cx="6286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200">
                    <a:solidFill>
                      <a:srgbClr val="FFFFFF"/>
                    </a:solidFill>
                    <a:latin typeface="Noto Sans JP"/>
                    <a:ea typeface="Noto Sans JP"/>
                    <a:cs typeface="Noto Sans JP"/>
                    <a:sym typeface="Noto Sans JP"/>
                  </a:rPr>
                  <a:t>新WEBサイトの正式公開（ローンチ）</a:t>
                </a:r>
                <a:endParaRPr b="0" sz="1200">
                  <a:solidFill>
                    <a:srgbClr val="FFFFFF"/>
                  </a:solidFill>
                  <a:latin typeface="Noto Sans JP"/>
                  <a:ea typeface="Noto Sans JP"/>
                  <a:cs typeface="Noto Sans JP"/>
                  <a:sym typeface="Noto Sans JP"/>
                </a:endParaRPr>
              </a:p>
              <a:p>
                <a:pPr indent="0" lvl="0" marL="0" rtl="0" algn="l">
                  <a:spcBef>
                    <a:spcPts val="300"/>
                  </a:spcBef>
                  <a:spcAft>
                    <a:spcPts val="0"/>
                  </a:spcAft>
                  <a:buNone/>
                </a:pPr>
                <a:r>
                  <a:rPr b="0" lang="ja" sz="1050">
                    <a:solidFill>
                      <a:srgbClr val="FFFFFF"/>
                    </a:solidFill>
                    <a:latin typeface="Noto Sans JP"/>
                    <a:ea typeface="Noto Sans JP"/>
                    <a:cs typeface="Noto Sans JP"/>
                    <a:sym typeface="Noto Sans JP"/>
                  </a:rPr>
                  <a:t>旧サイトからの完全な移行作業を完了させます。</a:t>
                </a:r>
                <a:endParaRPr b="0" sz="1050">
                  <a:solidFill>
                    <a:srgbClr val="FFFFFF"/>
                  </a:solidFill>
                  <a:latin typeface="Noto Sans JP"/>
                  <a:ea typeface="Noto Sans JP"/>
                  <a:cs typeface="Noto Sans JP"/>
                  <a:sym typeface="Noto Sans JP"/>
                </a:endParaRPr>
              </a:p>
            </p:txBody>
          </p:sp>
          <p:sp>
            <p:nvSpPr>
              <p:cNvPr id="344" name="Google Shape;344;p25"/>
              <p:cNvSpPr/>
              <p:nvPr/>
            </p:nvSpPr>
            <p:spPr>
              <a:xfrm>
                <a:off x="0" y="666750"/>
                <a:ext cx="8382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345" name="Google Shape;345;p25"/>
          <p:cNvGrpSpPr/>
          <p:nvPr/>
        </p:nvGrpSpPr>
        <p:grpSpPr>
          <a:xfrm>
            <a:off x="381000" y="4095750"/>
            <a:ext cx="8382000" cy="666900"/>
            <a:chOff x="0" y="0"/>
            <a:chExt cx="8382000" cy="666900"/>
          </a:xfrm>
        </p:grpSpPr>
        <p:sp>
          <p:nvSpPr>
            <p:cNvPr id="346" name="Google Shape;346;p25"/>
            <p:cNvSpPr/>
            <p:nvPr/>
          </p:nvSpPr>
          <p:spPr>
            <a:xfrm>
              <a:off x="0" y="0"/>
              <a:ext cx="8382000" cy="666900"/>
            </a:xfrm>
            <a:prstGeom prst="roundRect">
              <a:avLst>
                <a:gd fmla="val 5714"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5"/>
            <p:cNvSpPr/>
            <p:nvPr/>
          </p:nvSpPr>
          <p:spPr>
            <a:xfrm>
              <a:off x="0" y="0"/>
              <a:ext cx="38100" cy="6669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5"/>
            <p:cNvSpPr txBox="1"/>
            <p:nvPr/>
          </p:nvSpPr>
          <p:spPr>
            <a:xfrm>
              <a:off x="190500" y="114300"/>
              <a:ext cx="80010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ja" sz="1150">
                  <a:solidFill>
                    <a:srgbClr val="FFFFFF"/>
                  </a:solidFill>
                  <a:latin typeface="Noto Sans JP"/>
                  <a:ea typeface="Noto Sans JP"/>
                  <a:cs typeface="Noto Sans JP"/>
                  <a:sym typeface="Noto Sans JP"/>
                </a:rPr>
                <a:t>本日はデザイン案をご覧いただきありがとうございました。</a:t>
              </a:r>
              <a:br>
                <a:rPr b="0" lang="ja" sz="1150">
                  <a:solidFill>
                    <a:srgbClr val="FFFFFF"/>
                  </a:solidFill>
                  <a:latin typeface="Noto Sans JP"/>
                  <a:ea typeface="Noto Sans JP"/>
                  <a:cs typeface="Noto Sans JP"/>
                  <a:sym typeface="Noto Sans JP"/>
                </a:rPr>
              </a:br>
              <a:r>
                <a:rPr b="0" lang="ja" sz="1150">
                  <a:solidFill>
                    <a:srgbClr val="FFFFFF"/>
                  </a:solidFill>
                  <a:latin typeface="Noto Sans JP"/>
                  <a:ea typeface="Noto Sans JP"/>
                  <a:cs typeface="Noto Sans JP"/>
                  <a:sym typeface="Noto Sans JP"/>
                </a:rPr>
                <a:t>より良いスタジオ環境作りのため、ぜひ皆様の率直なご意見やご要望をお聞かせください。</a:t>
              </a:r>
              <a:endParaRPr b="0" sz="1150">
                <a:solidFill>
                  <a:srgbClr val="FFFFFF"/>
                </a:solidFill>
                <a:latin typeface="Noto Sans JP"/>
                <a:ea typeface="Noto Sans JP"/>
                <a:cs typeface="Noto Sans JP"/>
                <a:sym typeface="Noto Sans JP"/>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